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 id="270"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9" r:id="rId44"/>
    <p:sldId id="300" r:id="rId45"/>
    <p:sldId id="301" r:id="rId46"/>
    <p:sldId id="302" r:id="rId47"/>
    <p:sldId id="303" r:id="rId48"/>
    <p:sldId id="304" r:id="rId49"/>
    <p:sldId id="305" r:id="rId50"/>
    <p:sldId id="306" r:id="rId51"/>
    <p:sldId id="307" r:id="rId52"/>
    <p:sldId id="309" r:id="rId53"/>
    <p:sldId id="310" r:id="rId54"/>
    <p:sldId id="311" r:id="rId55"/>
    <p:sldId id="312" r:id="rId56"/>
    <p:sldId id="313" r:id="rId57"/>
    <p:sldId id="314" r:id="rId58"/>
    <p:sldId id="315" r:id="rId59"/>
    <p:sldId id="316" r:id="rId60"/>
    <p:sldId id="317" r:id="rId61"/>
    <p:sldId id="318" r:id="rId62"/>
    <p:sldId id="298"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86" d="100"/>
          <a:sy n="86" d="100"/>
        </p:scale>
        <p:origin x="-240"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1D18C30-5E4F-486E-84DC-0EA2D31FD2CB}" type="datetimeFigureOut">
              <a:rPr lang="en-US" smtClean="0"/>
              <a:t>10/29/2012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8E384D-0B77-464B-878A-B4C6AB88F39D}" type="slidenum">
              <a:rPr lang="en-US" smtClean="0"/>
              <a:t>‹#›</a:t>
            </a:fld>
            <a:endParaRPr lang="en-US"/>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1D18C30-5E4F-486E-84DC-0EA2D31FD2CB}" type="datetimeFigureOut">
              <a:rPr lang="en-US" smtClean="0"/>
              <a:t>10/29/2012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8E384D-0B77-464B-878A-B4C6AB88F39D}"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
        <p:nvSpPr>
          <p:cNvPr id="10" name="Content Placeholder 9"/>
          <p:cNvSpPr>
            <a:spLocks noGrp="1"/>
          </p:cNvSpPr>
          <p:nvPr>
            <p:ph sz="quarter" idx="13"/>
          </p:nvPr>
        </p:nvSpPr>
        <p:spPr>
          <a:xfrm>
            <a:off x="1143000" y="731520"/>
            <a:ext cx="6400800"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D18C30-5E4F-486E-84DC-0EA2D31FD2CB}" type="datetimeFigureOut">
              <a:rPr lang="en-US" smtClean="0"/>
              <a:t>10/29/2012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8E384D-0B77-464B-878A-B4C6AB88F39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1D18C30-5E4F-486E-84DC-0EA2D31FD2CB}" type="datetimeFigureOut">
              <a:rPr lang="en-US" smtClean="0"/>
              <a:t>10/29/2012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8E384D-0B77-464B-878A-B4C6AB88F39D}"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en-US" smtClean="0"/>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1D18C30-5E4F-486E-84DC-0EA2D31FD2CB}" type="datetimeFigureOut">
              <a:rPr lang="en-US" smtClean="0"/>
              <a:t>10/29/2012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8E384D-0B77-464B-878A-B4C6AB88F39D}" type="slidenum">
              <a:rPr lang="en-US" smtClean="0"/>
              <a:t>‹#›</a:t>
            </a:fld>
            <a:endParaRPr lang="en-US"/>
          </a:p>
        </p:txBody>
      </p:sp>
      <p:sp>
        <p:nvSpPr>
          <p:cNvPr id="10" name="Title 9"/>
          <p:cNvSpPr>
            <a:spLocks noGrp="1"/>
          </p:cNvSpPr>
          <p:nvPr>
            <p:ph type="title"/>
          </p:nvPr>
        </p:nvSpPr>
        <p:spPr/>
        <p:txBody>
          <a:body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1D18C30-5E4F-486E-84DC-0EA2D31FD2CB}" type="datetimeFigureOut">
              <a:rPr lang="en-US" smtClean="0"/>
              <a:t>10/29/2012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8E384D-0B77-464B-878A-B4C6AB88F39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D18C30-5E4F-486E-84DC-0EA2D31FD2CB}" type="datetimeFigureOut">
              <a:rPr lang="en-US" smtClean="0"/>
              <a:t>10/29/2012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8E384D-0B77-464B-878A-B4C6AB88F39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D18C30-5E4F-486E-84DC-0EA2D31FD2CB}" type="datetimeFigureOut">
              <a:rPr lang="en-US" smtClean="0"/>
              <a:t>10/29/2012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8E384D-0B77-464B-878A-B4C6AB88F39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D18C30-5E4F-486E-84DC-0EA2D31FD2CB}" type="datetimeFigureOut">
              <a:rPr lang="en-US" smtClean="0"/>
              <a:t>10/29/2012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8E384D-0B77-464B-878A-B4C6AB88F39D}" type="slidenum">
              <a:rPr lang="en-US" smtClean="0"/>
              <a:t>‹#›</a:t>
            </a:fld>
            <a:endParaRPr lang="en-US"/>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D18C30-5E4F-486E-84DC-0EA2D31FD2CB}" type="datetimeFigureOut">
              <a:rPr lang="en-US" smtClean="0"/>
              <a:t>10/29/2012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8E384D-0B77-464B-878A-B4C6AB88F39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1D18C30-5E4F-486E-84DC-0EA2D31FD2CB}" type="datetimeFigureOut">
              <a:rPr lang="en-US" smtClean="0"/>
              <a:t>10/29/2012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8E384D-0B77-464B-878A-B4C6AB88F39D}"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1066800" cy="365125"/>
          </a:xfrm>
        </p:spPr>
        <p:txBody>
          <a:bodyPr/>
          <a:lstStyle/>
          <a:p>
            <a:fld id="{61D18C30-5E4F-486E-84DC-0EA2D31FD2CB}" type="datetimeFigureOut">
              <a:rPr lang="en-US" smtClean="0"/>
              <a:t>10/29/2012</a:t>
            </a:fld>
            <a:endParaRPr lang="en-US"/>
          </a:p>
        </p:txBody>
      </p:sp>
      <p:sp>
        <p:nvSpPr>
          <p:cNvPr id="4" name="Footer Placeholder 3"/>
          <p:cNvSpPr>
            <a:spLocks noGrp="1"/>
          </p:cNvSpPr>
          <p:nvPr>
            <p:ph type="ftr" sz="quarter" idx="11"/>
          </p:nvPr>
        </p:nvSpPr>
        <p:spPr>
          <a:xfrm>
            <a:off x="1828800" y="6356350"/>
            <a:ext cx="5791200" cy="365125"/>
          </a:xfrm>
        </p:spPr>
        <p:txBody>
          <a:bodyPr/>
          <a:lstStyle/>
          <a:p>
            <a:endParaRPr lang="en-US"/>
          </a:p>
        </p:txBody>
      </p:sp>
      <p:sp>
        <p:nvSpPr>
          <p:cNvPr id="5" name="Slide Number Placeholder 4"/>
          <p:cNvSpPr>
            <a:spLocks noGrp="1"/>
          </p:cNvSpPr>
          <p:nvPr>
            <p:ph type="sldNum" sz="quarter" idx="12"/>
          </p:nvPr>
        </p:nvSpPr>
        <p:spPr>
          <a:xfrm>
            <a:off x="7924800" y="6356350"/>
            <a:ext cx="762000" cy="365125"/>
          </a:xfrm>
        </p:spPr>
        <p:txBody>
          <a:bodyPr/>
          <a:lstStyle/>
          <a:p>
            <a:fld id="{D18E384D-0B77-464B-878A-B4C6AB88F39D}" type="slidenum">
              <a:rPr lang="en-US" smtClean="0"/>
              <a:t>‹#›</a:t>
            </a:fld>
            <a:endParaRPr lang="en-US"/>
          </a:p>
        </p:txBody>
      </p:sp>
      <p:sp>
        <p:nvSpPr>
          <p:cNvPr id="7" name="Content Placeholder 6"/>
          <p:cNvSpPr>
            <a:spLocks noGrp="1"/>
          </p:cNvSpPr>
          <p:nvPr>
            <p:ph sz="quarter" idx="13"/>
          </p:nvPr>
        </p:nvSpPr>
        <p:spPr>
          <a:xfrm>
            <a:off x="457200" y="1676400"/>
            <a:ext cx="8153400"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12898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1D18C30-5E4F-486E-84DC-0EA2D31FD2CB}" type="datetimeFigureOut">
              <a:rPr lang="en-US" smtClean="0"/>
              <a:t>10/29/2012</a:t>
            </a:fld>
            <a:endParaRPr lang="en-US"/>
          </a:p>
        </p:txBody>
      </p:sp>
      <p:sp>
        <p:nvSpPr>
          <p:cNvPr id="4" name="Footer Placeholder 3"/>
          <p:cNvSpPr>
            <a:spLocks noGrp="1"/>
          </p:cNvSpPr>
          <p:nvPr>
            <p:ph type="ftr" sz="quarter" idx="11"/>
          </p:nvPr>
        </p:nvSpPr>
        <p:spPr/>
        <p:txBody>
          <a:bodyPr/>
          <a:lstStyle/>
          <a:p>
            <a:r>
              <a:rPr lang="en-US" smtClean="0"/>
              <a:t>BÁO CÁO MÔN HỌC QUẢN TRỊ MẠNG</a:t>
            </a:r>
            <a:endParaRPr lang="en-US"/>
          </a:p>
        </p:txBody>
      </p:sp>
      <p:sp>
        <p:nvSpPr>
          <p:cNvPr id="5" name="Slide Number Placeholder 4"/>
          <p:cNvSpPr>
            <a:spLocks noGrp="1"/>
          </p:cNvSpPr>
          <p:nvPr>
            <p:ph type="sldNum" sz="quarter" idx="12"/>
          </p:nvPr>
        </p:nvSpPr>
        <p:spPr/>
        <p:txBody>
          <a:bodyPr/>
          <a:lstStyle/>
          <a:p>
            <a:fld id="{D18E384D-0B77-464B-878A-B4C6AB88F39D}" type="slidenum">
              <a:rPr lang="en-US" smtClean="0"/>
              <a:t>‹#›</a:t>
            </a:fld>
            <a:endParaRPr lang="en-US"/>
          </a:p>
        </p:txBody>
      </p:sp>
      <p:sp>
        <p:nvSpPr>
          <p:cNvPr id="7" name="Content Placeholder 6"/>
          <p:cNvSpPr>
            <a:spLocks noGrp="1"/>
          </p:cNvSpPr>
          <p:nvPr>
            <p:ph sz="quarter" idx="13" hasCustomPrompt="1"/>
          </p:nvPr>
        </p:nvSpPr>
        <p:spPr>
          <a:xfrm>
            <a:off x="304800" y="457200"/>
            <a:ext cx="8610600" cy="838200"/>
          </a:xfrm>
        </p:spPr>
        <p:txBody>
          <a:bodyPr>
            <a:normAutofit/>
          </a:bodyPr>
          <a:lstStyle>
            <a:lvl1pPr marL="45720" indent="0" algn="ctr">
              <a:buNone/>
              <a:defRPr sz="4000" b="1" baseline="0">
                <a:latin typeface="Tahoma" pitchFamily="34" charset="0"/>
                <a:ea typeface="Tahoma" pitchFamily="34" charset="0"/>
                <a:cs typeface="Tahoma" pitchFamily="34" charset="0"/>
              </a:defRPr>
            </a:lvl1pPr>
          </a:lstStyle>
          <a:p>
            <a:pPr lvl="0"/>
            <a:r>
              <a:rPr lang="en-US" sz="4000" b="1" smtClean="0">
                <a:latin typeface="Tahoma" pitchFamily="34" charset="0"/>
                <a:ea typeface="Tahoma" pitchFamily="34" charset="0"/>
                <a:cs typeface="Tahoma" pitchFamily="34" charset="0"/>
              </a:rPr>
              <a:t>TIÊU ĐỀ</a:t>
            </a:r>
            <a:endParaRPr lang="en-US"/>
          </a:p>
        </p:txBody>
      </p:sp>
      <p:sp>
        <p:nvSpPr>
          <p:cNvPr id="9" name="Content Placeholder 8"/>
          <p:cNvSpPr>
            <a:spLocks noGrp="1"/>
          </p:cNvSpPr>
          <p:nvPr>
            <p:ph sz="quarter" idx="14" hasCustomPrompt="1"/>
          </p:nvPr>
        </p:nvSpPr>
        <p:spPr>
          <a:xfrm>
            <a:off x="304800" y="1524000"/>
            <a:ext cx="8610600" cy="4495800"/>
          </a:xfrm>
        </p:spPr>
        <p:txBody>
          <a:bodyPr>
            <a:normAutofit/>
          </a:bodyPr>
          <a:lstStyle>
            <a:lvl1pPr>
              <a:defRPr sz="3200" b="1" baseline="0">
                <a:latin typeface="Tahoma" pitchFamily="34" charset="0"/>
                <a:ea typeface="Tahoma" pitchFamily="34" charset="0"/>
                <a:cs typeface="Tahoma" pitchFamily="34" charset="0"/>
              </a:defRPr>
            </a:lvl1pPr>
          </a:lstStyle>
          <a:p>
            <a:pPr lvl="0"/>
            <a:r>
              <a:rPr lang="en-US" smtClean="0"/>
              <a:t>Nội dung</a:t>
            </a:r>
            <a:endParaRPr lang="en-US"/>
          </a:p>
        </p:txBody>
      </p:sp>
    </p:spTree>
    <p:extLst>
      <p:ext uri="{BB962C8B-B14F-4D97-AF65-F5344CB8AC3E}">
        <p14:creationId xmlns:p14="http://schemas.microsoft.com/office/powerpoint/2010/main" val="1568942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61D18C30-5E4F-486E-84DC-0EA2D31FD2CB}" type="datetimeFigureOut">
              <a:rPr lang="en-US" smtClean="0"/>
              <a:t>10/29/2012</a:t>
            </a:fld>
            <a:endParaRPr lang="en-US"/>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18E384D-0B77-464B-878A-B4C6AB88F39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60" r:id="rId12"/>
    <p:sldLayoutId id="2147483673" r:id="rId13"/>
  </p:sldLayoutIdLst>
  <p:timing>
    <p:tnLst>
      <p:par>
        <p:cTn id="1" dur="indefinite" restart="never" nodeType="tmRoot"/>
      </p:par>
    </p:tnLst>
  </p:timing>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304800" y="228600"/>
            <a:ext cx="8610600" cy="1295400"/>
          </a:xfrm>
        </p:spPr>
        <p:txBody>
          <a:bodyPr>
            <a:normAutofit/>
          </a:bodyPr>
          <a:lstStyle/>
          <a:p>
            <a:r>
              <a:rPr lang="en-US" sz="2000" smtClean="0"/>
              <a:t>ĐẠI HỌC ĐÀ NẴNG</a:t>
            </a:r>
          </a:p>
          <a:p>
            <a:r>
              <a:rPr lang="en-US" sz="2000" smtClean="0"/>
              <a:t>TRƯỜNG ĐẠI HỌC BÁCH KHOA</a:t>
            </a:r>
          </a:p>
          <a:p>
            <a:r>
              <a:rPr lang="en-US" sz="2400" smtClean="0">
                <a:sym typeface="Wingdings"/>
              </a:rPr>
              <a:t></a:t>
            </a:r>
            <a:endParaRPr lang="en-US" sz="2400"/>
          </a:p>
        </p:txBody>
      </p:sp>
      <p:sp>
        <p:nvSpPr>
          <p:cNvPr id="5" name="Content Placeholder 4"/>
          <p:cNvSpPr>
            <a:spLocks noGrp="1"/>
          </p:cNvSpPr>
          <p:nvPr>
            <p:ph sz="quarter" idx="14"/>
          </p:nvPr>
        </p:nvSpPr>
        <p:spPr>
          <a:xfrm>
            <a:off x="304800" y="1752600"/>
            <a:ext cx="8610600" cy="4267200"/>
          </a:xfrm>
        </p:spPr>
        <p:txBody>
          <a:bodyPr>
            <a:normAutofit fontScale="92500" lnSpcReduction="10000"/>
          </a:bodyPr>
          <a:lstStyle/>
          <a:p>
            <a:pPr marL="45720" indent="0" algn="ctr">
              <a:buNone/>
            </a:pPr>
            <a:r>
              <a:rPr lang="en-US" sz="3200" smtClean="0"/>
              <a:t>BÁO CÁO MÔN HỌC</a:t>
            </a:r>
          </a:p>
          <a:p>
            <a:pPr marL="45720" indent="0" algn="ctr">
              <a:buNone/>
            </a:pPr>
            <a:r>
              <a:rPr lang="en-US" sz="3200" smtClean="0"/>
              <a:t>QUẢN TRỊ MẠNG</a:t>
            </a:r>
          </a:p>
          <a:p>
            <a:pPr marL="45720" indent="0" algn="ctr">
              <a:buNone/>
            </a:pPr>
            <a:r>
              <a:rPr lang="en-US" sz="3600" smtClean="0"/>
              <a:t>Đề tài: Tìm hiểu và cấu hình Virtual Private Network (VPN) trên ISA 2006</a:t>
            </a:r>
          </a:p>
          <a:p>
            <a:pPr marL="45720" indent="0" algn="ctr">
              <a:buNone/>
            </a:pPr>
            <a:endParaRPr lang="en-US"/>
          </a:p>
          <a:p>
            <a:pPr marL="4291013" indent="0" algn="r">
              <a:buNone/>
            </a:pPr>
            <a:r>
              <a:rPr lang="en-US" sz="1800"/>
              <a:t>GVHD: ThS. MAI VĂN </a:t>
            </a:r>
            <a:r>
              <a:rPr lang="en-US" sz="1800" smtClean="0"/>
              <a:t>HÀ</a:t>
            </a:r>
            <a:br>
              <a:rPr lang="en-US" sz="1800" smtClean="0"/>
            </a:br>
            <a:endParaRPr lang="en-US" sz="1800"/>
          </a:p>
          <a:p>
            <a:pPr marL="4291013" indent="0" algn="r">
              <a:buNone/>
            </a:pPr>
            <a:r>
              <a:rPr lang="en-US" sz="1800" smtClean="0"/>
              <a:t>SVTH: NGUYỄN DUY PHONG</a:t>
            </a:r>
          </a:p>
          <a:p>
            <a:pPr marL="4291013" indent="0" algn="r">
              <a:buNone/>
            </a:pPr>
            <a:r>
              <a:rPr lang="en-US" sz="1800" smtClean="0"/>
              <a:t>LÊ XUÂN NGUYÊN</a:t>
            </a:r>
          </a:p>
          <a:p>
            <a:pPr marL="4291013" indent="0" algn="r">
              <a:buNone/>
            </a:pPr>
            <a:r>
              <a:rPr lang="en-US" sz="1800" smtClean="0"/>
              <a:t>LÃ VĂN TUYÊN</a:t>
            </a:r>
          </a:p>
          <a:p>
            <a:pPr marL="4291013" indent="0" algn="r">
              <a:buNone/>
            </a:pPr>
            <a:endParaRPr lang="en-US" sz="1800"/>
          </a:p>
        </p:txBody>
      </p:sp>
    </p:spTree>
    <p:extLst>
      <p:ext uri="{BB962C8B-B14F-4D97-AF65-F5344CB8AC3E}">
        <p14:creationId xmlns:p14="http://schemas.microsoft.com/office/powerpoint/2010/main" val="34807994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smtClean="0"/>
              <a:t>NỘI DUNG TRÌNH BÀY</a:t>
            </a:r>
            <a:endParaRPr lang="en-US"/>
          </a:p>
        </p:txBody>
      </p:sp>
      <p:sp>
        <p:nvSpPr>
          <p:cNvPr id="3" name="Content Placeholder 2"/>
          <p:cNvSpPr>
            <a:spLocks noGrp="1"/>
          </p:cNvSpPr>
          <p:nvPr>
            <p:ph sz="quarter" idx="14"/>
          </p:nvPr>
        </p:nvSpPr>
        <p:spPr>
          <a:xfrm>
            <a:off x="304800" y="1828800"/>
            <a:ext cx="8610600" cy="4191000"/>
          </a:xfrm>
        </p:spPr>
        <p:txBody>
          <a:bodyPr/>
          <a:lstStyle/>
          <a:p>
            <a:r>
              <a:rPr lang="en-US" smtClean="0"/>
              <a:t>LÝ THUYẾT VPN</a:t>
            </a:r>
          </a:p>
          <a:p>
            <a:r>
              <a:rPr lang="en-US" smtClean="0"/>
              <a:t>TÌM HIỂU VỀ PHẦN MỀM ISA 2006</a:t>
            </a:r>
          </a:p>
          <a:p>
            <a:r>
              <a:rPr lang="en-US" smtClean="0"/>
              <a:t>CẤU HÌNH VPN TRÊN ISA 2006</a:t>
            </a:r>
            <a:endParaRPr lang="en-US"/>
          </a:p>
        </p:txBody>
      </p:sp>
    </p:spTree>
    <p:extLst>
      <p:ext uri="{BB962C8B-B14F-4D97-AF65-F5344CB8AC3E}">
        <p14:creationId xmlns:p14="http://schemas.microsoft.com/office/powerpoint/2010/main" val="16483292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smtClean="0"/>
              <a:t>LÝ THUYẾT VPN</a:t>
            </a:r>
            <a:endParaRPr lang="en-US"/>
          </a:p>
        </p:txBody>
      </p:sp>
      <p:sp>
        <p:nvSpPr>
          <p:cNvPr id="3" name="Content Placeholder 2"/>
          <p:cNvSpPr>
            <a:spLocks noGrp="1"/>
          </p:cNvSpPr>
          <p:nvPr>
            <p:ph sz="quarter" idx="14"/>
          </p:nvPr>
        </p:nvSpPr>
        <p:spPr/>
        <p:txBody>
          <a:bodyPr/>
          <a:lstStyle/>
          <a:p>
            <a:pPr algn="just"/>
            <a:r>
              <a:rPr lang="en-US" smtClean="0"/>
              <a:t>VPN (Virtual Private Network) – mạng riêng ảo, là sự mở rộng của một mạng riêng (Private Network) thông qua các mạng công cộng (thương là Internet).</a:t>
            </a:r>
          </a:p>
          <a:p>
            <a:pPr algn="just"/>
            <a:r>
              <a:rPr lang="en-US" smtClean="0"/>
              <a:t>Mỗi VPN sử dụng các kết nối ảo được dẫn đường qua Internet từ mạng riêng của công ty tới các site hay các nhân viên từ xa.</a:t>
            </a:r>
            <a:endParaRPr lang="en-US"/>
          </a:p>
        </p:txBody>
      </p:sp>
    </p:spTree>
    <p:extLst>
      <p:ext uri="{BB962C8B-B14F-4D97-AF65-F5344CB8AC3E}">
        <p14:creationId xmlns:p14="http://schemas.microsoft.com/office/powerpoint/2010/main" val="28578607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smtClean="0"/>
              <a:t>LÝ THUYẾT VPN</a:t>
            </a:r>
            <a:endParaRPr lang="en-US"/>
          </a:p>
        </p:txBody>
      </p:sp>
      <p:sp>
        <p:nvSpPr>
          <p:cNvPr id="3" name="Content Placeholder 2"/>
          <p:cNvSpPr>
            <a:spLocks noGrp="1"/>
          </p:cNvSpPr>
          <p:nvPr>
            <p:ph sz="quarter" idx="14"/>
          </p:nvPr>
        </p:nvSpPr>
        <p:spPr/>
        <p:txBody>
          <a:bodyPr>
            <a:normAutofit fontScale="92500" lnSpcReduction="10000"/>
          </a:bodyPr>
          <a:lstStyle/>
          <a:p>
            <a:pPr algn="just"/>
            <a:r>
              <a:rPr lang="en-US" smtClean="0"/>
              <a:t>Để đảm bảo tính an toàn và bảo mật khi gửi và nhận dữ liệu thông qua mạng công cộng, VPN sử dụng kỹ thuật “đường ống” (Tunnel).</a:t>
            </a:r>
          </a:p>
          <a:p>
            <a:pPr algn="just"/>
            <a:r>
              <a:rPr lang="en-US" smtClean="0"/>
              <a:t>Kỹ thuật “Tunnel” là một cơ chế mã hóa trên đường truyền, tạo kết nối point-to-point trên mạng riêng. Dữ liệu được mã hóa hay che giấu và chỉ cung cấp phần Header (chứa thông tin về đường đi của nó).</a:t>
            </a:r>
            <a:endParaRPr lang="en-US"/>
          </a:p>
        </p:txBody>
      </p:sp>
    </p:spTree>
    <p:extLst>
      <p:ext uri="{BB962C8B-B14F-4D97-AF65-F5344CB8AC3E}">
        <p14:creationId xmlns:p14="http://schemas.microsoft.com/office/powerpoint/2010/main" val="26743913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smtClean="0"/>
              <a:t>LÝ THUYẾT VPN</a:t>
            </a:r>
            <a:endParaRPr lang="en-US"/>
          </a:p>
        </p:txBody>
      </p:sp>
      <p:sp>
        <p:nvSpPr>
          <p:cNvPr id="3" name="Content Placeholder 2"/>
          <p:cNvSpPr>
            <a:spLocks noGrp="1"/>
          </p:cNvSpPr>
          <p:nvPr>
            <p:ph sz="quarter" idx="14"/>
          </p:nvPr>
        </p:nvSpPr>
        <p:spPr/>
        <p:txBody>
          <a:bodyPr/>
          <a:lstStyle/>
          <a:p>
            <a:pPr algn="just"/>
            <a:r>
              <a:rPr lang="en-US" smtClean="0"/>
              <a:t>VPN hỗ trợ có thể hỗ trợ 3 mô hình khác nhau: </a:t>
            </a:r>
          </a:p>
          <a:p>
            <a:pPr lvl="1" algn="just">
              <a:buFont typeface="Arial" pitchFamily="34" charset="0"/>
              <a:buChar char="•"/>
            </a:pPr>
            <a:r>
              <a:rPr lang="en-US" sz="3200" smtClean="0">
                <a:latin typeface="Tahoma" pitchFamily="34" charset="0"/>
                <a:ea typeface="Tahoma" pitchFamily="34" charset="0"/>
                <a:cs typeface="Tahoma" pitchFamily="34" charset="0"/>
              </a:rPr>
              <a:t>Kết nối Client truy xuất từ xa</a:t>
            </a:r>
          </a:p>
          <a:p>
            <a:pPr lvl="1" algn="just">
              <a:buFont typeface="Arial" pitchFamily="34" charset="0"/>
              <a:buChar char="•"/>
            </a:pPr>
            <a:r>
              <a:rPr lang="en-US" sz="3200" smtClean="0">
                <a:latin typeface="Tahoma" pitchFamily="34" charset="0"/>
                <a:ea typeface="Tahoma" pitchFamily="34" charset="0"/>
                <a:cs typeface="Tahoma" pitchFamily="34" charset="0"/>
              </a:rPr>
              <a:t>LAN to LAN Internetworking (Site to Site)</a:t>
            </a:r>
          </a:p>
          <a:p>
            <a:pPr lvl="1" algn="just">
              <a:buFont typeface="Arial" pitchFamily="34" charset="0"/>
              <a:buChar char="•"/>
            </a:pPr>
            <a:r>
              <a:rPr lang="en-US" sz="3200" smtClean="0">
                <a:latin typeface="Tahoma" pitchFamily="34" charset="0"/>
                <a:ea typeface="Tahoma" pitchFamily="34" charset="0"/>
                <a:cs typeface="Tahoma" pitchFamily="34" charset="0"/>
              </a:rPr>
              <a:t>Controlled access within Intranet</a:t>
            </a:r>
            <a:endParaRPr lang="en-US" sz="320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20297754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smtClean="0"/>
              <a:t>LÝ THUYẾT VPN</a:t>
            </a:r>
            <a:endParaRPr lang="en-US"/>
          </a:p>
        </p:txBody>
      </p:sp>
      <p:sp>
        <p:nvSpPr>
          <p:cNvPr id="3" name="Content Placeholder 2"/>
          <p:cNvSpPr>
            <a:spLocks noGrp="1"/>
          </p:cNvSpPr>
          <p:nvPr>
            <p:ph sz="quarter" idx="14"/>
          </p:nvPr>
        </p:nvSpPr>
        <p:spPr>
          <a:xfrm>
            <a:off x="304800" y="1524000"/>
            <a:ext cx="8610600" cy="4876800"/>
          </a:xfrm>
        </p:spPr>
        <p:txBody>
          <a:bodyPr/>
          <a:lstStyle/>
          <a:p>
            <a:pPr algn="just"/>
            <a:r>
              <a:rPr lang="en-US" smtClean="0"/>
              <a:t>Mô hình Kết nối Client truy xuất từ xa được thiết kế hỗ trợ truy xuất có bảo vệ từ xa tới mạng công ty thông qua Internet, sử dụng mô hình Client-Server</a:t>
            </a:r>
          </a:p>
          <a:p>
            <a:pPr marL="45720" indent="0">
              <a:buNone/>
            </a:pP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4962" y="3733800"/>
            <a:ext cx="5934075"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88925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smtClean="0"/>
              <a:t>LÝ THUYẾT VPN</a:t>
            </a:r>
            <a:endParaRPr lang="en-US"/>
          </a:p>
        </p:txBody>
      </p:sp>
      <p:sp>
        <p:nvSpPr>
          <p:cNvPr id="3" name="Content Placeholder 2"/>
          <p:cNvSpPr>
            <a:spLocks noGrp="1"/>
          </p:cNvSpPr>
          <p:nvPr>
            <p:ph sz="quarter" idx="14"/>
          </p:nvPr>
        </p:nvSpPr>
        <p:spPr>
          <a:xfrm>
            <a:off x="304800" y="1524000"/>
            <a:ext cx="8610600" cy="4724400"/>
          </a:xfrm>
        </p:spPr>
        <p:txBody>
          <a:bodyPr/>
          <a:lstStyle/>
          <a:p>
            <a:pPr algn="just"/>
            <a:r>
              <a:rPr lang="en-US" smtClean="0"/>
              <a:t>Mô hình Site-to-Site: VPN được sử dụng để làm cầu nối cho 2 mạng LAN để thành một Intranet mở rộng. Cần kết nối VPN Server với VPN Server</a:t>
            </a:r>
            <a:endParaRPr lang="en-US"/>
          </a:p>
        </p:txBody>
      </p:sp>
      <p:pic>
        <p:nvPicPr>
          <p:cNvPr id="4" name="Picture 3"/>
          <p:cNvPicPr/>
          <p:nvPr/>
        </p:nvPicPr>
        <p:blipFill>
          <a:blip r:embed="rId2"/>
          <a:stretch>
            <a:fillRect/>
          </a:stretch>
        </p:blipFill>
        <p:spPr>
          <a:xfrm>
            <a:off x="2209800" y="3810000"/>
            <a:ext cx="4572000" cy="2667000"/>
          </a:xfrm>
          <a:prstGeom prst="rect">
            <a:avLst/>
          </a:prstGeom>
        </p:spPr>
      </p:pic>
    </p:spTree>
    <p:extLst>
      <p:ext uri="{BB962C8B-B14F-4D97-AF65-F5344CB8AC3E}">
        <p14:creationId xmlns:p14="http://schemas.microsoft.com/office/powerpoint/2010/main" val="1832105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smtClean="0"/>
              <a:t>LÝ THUYẾT VPN</a:t>
            </a:r>
            <a:endParaRPr lang="en-US"/>
          </a:p>
        </p:txBody>
      </p:sp>
      <p:sp>
        <p:nvSpPr>
          <p:cNvPr id="3" name="Content Placeholder 2"/>
          <p:cNvSpPr>
            <a:spLocks noGrp="1"/>
          </p:cNvSpPr>
          <p:nvPr>
            <p:ph sz="quarter" idx="14"/>
          </p:nvPr>
        </p:nvSpPr>
        <p:spPr/>
        <p:txBody>
          <a:bodyPr>
            <a:normAutofit lnSpcReduction="10000"/>
          </a:bodyPr>
          <a:lstStyle/>
          <a:p>
            <a:pPr algn="just"/>
            <a:r>
              <a:rPr lang="en-US" smtClean="0"/>
              <a:t>Mô hình Controlled Access within Intranet: </a:t>
            </a:r>
            <a:r>
              <a:rPr lang="en-US"/>
              <a:t>Mạng Intrenet cũng có thể sử dụng kỹ thuật VPN để thực hiện việc truy xuất có điều khiển đến các lớp mạng con riêng. </a:t>
            </a:r>
            <a:endParaRPr lang="en-US" smtClean="0"/>
          </a:p>
          <a:p>
            <a:pPr algn="just"/>
            <a:r>
              <a:rPr lang="en-US" smtClean="0"/>
              <a:t>Ở </a:t>
            </a:r>
            <a:r>
              <a:rPr lang="en-US"/>
              <a:t>chế độ này VPN server đóng vai trò như gateway của mạng. </a:t>
            </a:r>
            <a:endParaRPr lang="en-US" smtClean="0"/>
          </a:p>
          <a:p>
            <a:pPr algn="just"/>
            <a:r>
              <a:rPr lang="en-US" smtClean="0"/>
              <a:t>Phương </a:t>
            </a:r>
            <a:r>
              <a:rPr lang="en-US"/>
              <a:t>pháp này đặc biệt thích hợp để bảo mật cho các WIFI của mạng.</a:t>
            </a:r>
          </a:p>
        </p:txBody>
      </p:sp>
    </p:spTree>
    <p:extLst>
      <p:ext uri="{BB962C8B-B14F-4D97-AF65-F5344CB8AC3E}">
        <p14:creationId xmlns:p14="http://schemas.microsoft.com/office/powerpoint/2010/main" val="1667962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US" smtClean="0"/>
              <a:t>LÝ THUYẾT VPN</a:t>
            </a:r>
            <a:endParaRPr lang="en-US"/>
          </a:p>
        </p:txBody>
      </p:sp>
      <p:sp>
        <p:nvSpPr>
          <p:cNvPr id="3" name="Content Placeholder 2"/>
          <p:cNvSpPr>
            <a:spLocks noGrp="1"/>
          </p:cNvSpPr>
          <p:nvPr>
            <p:ph sz="quarter" idx="14"/>
          </p:nvPr>
        </p:nvSpPr>
        <p:spPr/>
        <p:txBody>
          <a:bodyPr>
            <a:normAutofit lnSpcReduction="10000"/>
          </a:bodyPr>
          <a:lstStyle/>
          <a:p>
            <a:pPr algn="just"/>
            <a:r>
              <a:rPr lang="en-US" smtClean="0"/>
              <a:t>Ưu điểm: chi phí thấp và khả năng bảo mật cao nếu dùng trong các mạng có kết nối Wifi</a:t>
            </a:r>
          </a:p>
          <a:p>
            <a:pPr algn="just"/>
            <a:r>
              <a:rPr lang="en-US" smtClean="0"/>
              <a:t>Nhược điểm:</a:t>
            </a:r>
          </a:p>
          <a:p>
            <a:pPr lvl="1" algn="just">
              <a:buFont typeface="Arial" pitchFamily="34" charset="0"/>
              <a:buChar char="•"/>
            </a:pPr>
            <a:r>
              <a:rPr lang="en-US" sz="2400" smtClean="0">
                <a:latin typeface="Tahoma" pitchFamily="34" charset="0"/>
                <a:ea typeface="Tahoma" pitchFamily="34" charset="0"/>
                <a:cs typeface="Tahoma" pitchFamily="34" charset="0"/>
              </a:rPr>
              <a:t>Yêu cầu nhà quản trị mạng phải có hiểu biết chuyên sâu về bảo mật</a:t>
            </a:r>
          </a:p>
          <a:p>
            <a:pPr lvl="1" algn="just">
              <a:buFont typeface="Arial" pitchFamily="34" charset="0"/>
              <a:buChar char="•"/>
            </a:pPr>
            <a:r>
              <a:rPr lang="en-US" sz="2400" smtClean="0">
                <a:latin typeface="Tahoma" pitchFamily="34" charset="0"/>
                <a:ea typeface="Tahoma" pitchFamily="34" charset="0"/>
                <a:cs typeface="Tahoma" pitchFamily="34" charset="0"/>
              </a:rPr>
              <a:t>Chất lượng bị phụ thuộc vào sự điều khiển của công ty và các ISP</a:t>
            </a:r>
          </a:p>
          <a:p>
            <a:pPr lvl="1" algn="just">
              <a:buFont typeface="Arial" pitchFamily="34" charset="0"/>
              <a:buChar char="•"/>
            </a:pPr>
            <a:r>
              <a:rPr lang="en-US" sz="2400" smtClean="0">
                <a:latin typeface="Tahoma" pitchFamily="34" charset="0"/>
                <a:ea typeface="Tahoma" pitchFamily="34" charset="0"/>
                <a:cs typeface="Tahoma" pitchFamily="34" charset="0"/>
              </a:rPr>
              <a:t>Không tương thích giữa các nhà sản xuất cung cấp thiết bị khác nhau</a:t>
            </a:r>
            <a:endParaRPr lang="en-US" sz="2400">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4063495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a:bodyPr>
          <a:lstStyle/>
          <a:p>
            <a:r>
              <a:rPr lang="en-US" smtClean="0"/>
              <a:t>TÌM HIỂU VỀ PHẦN MỀM ISA 2006</a:t>
            </a:r>
            <a:endParaRPr lang="en-US"/>
          </a:p>
        </p:txBody>
      </p:sp>
      <p:sp>
        <p:nvSpPr>
          <p:cNvPr id="3" name="Content Placeholder 2"/>
          <p:cNvSpPr>
            <a:spLocks noGrp="1"/>
          </p:cNvSpPr>
          <p:nvPr>
            <p:ph sz="quarter" idx="14"/>
          </p:nvPr>
        </p:nvSpPr>
        <p:spPr/>
        <p:txBody>
          <a:bodyPr>
            <a:normAutofit fontScale="92500" lnSpcReduction="10000"/>
          </a:bodyPr>
          <a:lstStyle/>
          <a:p>
            <a:r>
              <a:rPr lang="en-US"/>
              <a:t>Microsoft Internet Security and Acceleration Sever (ISA Server) là phần mềm xây dựng bức tường lửa (Firewall) khá nổi tiếng và được sử dụng khá phổ biến của hãng phần mềm Microsoft. </a:t>
            </a:r>
            <a:endParaRPr lang="en-US" smtClean="0"/>
          </a:p>
          <a:p>
            <a:r>
              <a:rPr lang="en-US" smtClean="0"/>
              <a:t>Có </a:t>
            </a:r>
            <a:r>
              <a:rPr lang="en-US"/>
              <a:t>thể nói đây là một phần mềm share internet khá hiệu quả, ổn định, dễ cấu hình, firewall tốt, nhiều tính năng cho phép bạn cấu hình sao cho tương thích với mạng LAN của bạn</a:t>
            </a:r>
            <a:r>
              <a:rPr lang="en-US" smtClean="0"/>
              <a:t>.</a:t>
            </a:r>
          </a:p>
        </p:txBody>
      </p:sp>
    </p:spTree>
    <p:extLst>
      <p:ext uri="{BB962C8B-B14F-4D97-AF65-F5344CB8AC3E}">
        <p14:creationId xmlns:p14="http://schemas.microsoft.com/office/powerpoint/2010/main" val="1877658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a:bodyPr>
          <a:lstStyle/>
          <a:p>
            <a:r>
              <a:rPr lang="en-US" smtClean="0"/>
              <a:t>TÌM HIỂU VỀ PHẦN MỀM ISA 2006</a:t>
            </a:r>
            <a:endParaRPr lang="en-US"/>
          </a:p>
        </p:txBody>
      </p:sp>
      <p:sp>
        <p:nvSpPr>
          <p:cNvPr id="3" name="Content Placeholder 2"/>
          <p:cNvSpPr>
            <a:spLocks noGrp="1"/>
          </p:cNvSpPr>
          <p:nvPr>
            <p:ph sz="quarter" idx="14"/>
          </p:nvPr>
        </p:nvSpPr>
        <p:spPr/>
        <p:txBody>
          <a:bodyPr>
            <a:normAutofit fontScale="92500" lnSpcReduction="20000"/>
          </a:bodyPr>
          <a:lstStyle/>
          <a:p>
            <a:r>
              <a:rPr lang="en-US" smtClean="0"/>
              <a:t>Tốc </a:t>
            </a:r>
            <a:r>
              <a:rPr lang="en-US"/>
              <a:t>độ nhanh nhờ chế độ cache thông minh, với tính năng lưu Cache vào RAM (Random Access Memory), giúp bạn truy xuất thông tin nhanh hơn, và tính năng Schedule Cache (Lập lịch cho tự động download thông tin trên các WebServer lưu vào Cache và máy con chỉ cần lấy thông tin trên các Webserver đó bằng mạng LAN). </a:t>
            </a:r>
            <a:endParaRPr lang="en-US" smtClean="0"/>
          </a:p>
          <a:p>
            <a:r>
              <a:rPr lang="en-US" smtClean="0"/>
              <a:t>Ngoài </a:t>
            </a:r>
            <a:r>
              <a:rPr lang="en-US"/>
              <a:t>ra còn rất nhiều các tính năng khác nữa</a:t>
            </a:r>
          </a:p>
        </p:txBody>
      </p:sp>
    </p:spTree>
    <p:extLst>
      <p:ext uri="{BB962C8B-B14F-4D97-AF65-F5344CB8AC3E}">
        <p14:creationId xmlns:p14="http://schemas.microsoft.com/office/powerpoint/2010/main" val="3348750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a:bodyPr>
          <a:lstStyle/>
          <a:p>
            <a:r>
              <a:rPr lang="en-US" smtClean="0"/>
              <a:t>TÌM HIỂU VỀ PHẦN MỀM ISA 2006</a:t>
            </a:r>
            <a:endParaRPr lang="en-US"/>
          </a:p>
        </p:txBody>
      </p:sp>
      <p:sp>
        <p:nvSpPr>
          <p:cNvPr id="3" name="Content Placeholder 2"/>
          <p:cNvSpPr>
            <a:spLocks noGrp="1"/>
          </p:cNvSpPr>
          <p:nvPr>
            <p:ph sz="quarter" idx="14"/>
          </p:nvPr>
        </p:nvSpPr>
        <p:spPr/>
        <p:txBody>
          <a:bodyPr>
            <a:normAutofit fontScale="92500" lnSpcReduction="20000"/>
          </a:bodyPr>
          <a:lstStyle/>
          <a:p>
            <a:r>
              <a:rPr lang="x-none"/>
              <a:t>Các phiên bản của ISA server 2006</a:t>
            </a:r>
            <a:endParaRPr lang="en-US"/>
          </a:p>
          <a:p>
            <a:pPr lvl="1"/>
            <a:r>
              <a:rPr lang="en-US" sz="2800"/>
              <a:t>Standard : ISA Server 2006 Standard đáp ứng nhu cầu bảo vệ và chia sẻ băng thông cho các công ty có quy mô trung bình.</a:t>
            </a:r>
          </a:p>
          <a:p>
            <a:pPr lvl="1"/>
            <a:r>
              <a:rPr lang="en-US" sz="2800"/>
              <a:t>Enterprise : ISA Server 2006 Enterprise được sử dụng trong các mô hình mạng lớn, đáp ứng nhiều yêu cầu truy xuất của người dùng bên trong và ngoài hệ thống. Ngoài những tính năng đã có trên ISA Server 2006, bản Enterprise còn cho phép thiết lập hệ thống mảng các ISA Server cùng sử dụng một chính sách, điều này giúp dễ dàng quản lý và cung cấp tính năng Load Balancing (cân bằng tải).</a:t>
            </a:r>
          </a:p>
        </p:txBody>
      </p:sp>
    </p:spTree>
    <p:extLst>
      <p:ext uri="{BB962C8B-B14F-4D97-AF65-F5344CB8AC3E}">
        <p14:creationId xmlns:p14="http://schemas.microsoft.com/office/powerpoint/2010/main" val="343959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a:bodyPr>
          <a:lstStyle/>
          <a:p>
            <a:r>
              <a:rPr lang="en-US" smtClean="0"/>
              <a:t>TÌM HIỂU VỀ PHẦN MỀM ISA 2006</a:t>
            </a:r>
            <a:endParaRPr lang="en-US"/>
          </a:p>
        </p:txBody>
      </p:sp>
      <p:sp>
        <p:nvSpPr>
          <p:cNvPr id="3" name="Content Placeholder 2"/>
          <p:cNvSpPr>
            <a:spLocks noGrp="1"/>
          </p:cNvSpPr>
          <p:nvPr>
            <p:ph sz="quarter" idx="14"/>
          </p:nvPr>
        </p:nvSpPr>
        <p:spPr/>
        <p:txBody>
          <a:bodyPr>
            <a:normAutofit fontScale="92500"/>
          </a:bodyPr>
          <a:lstStyle/>
          <a:p>
            <a:r>
              <a:rPr lang="en-US"/>
              <a:t>Tính năng chính của ISA server </a:t>
            </a:r>
            <a:r>
              <a:rPr lang="en-US" smtClean="0"/>
              <a:t>2006</a:t>
            </a:r>
          </a:p>
          <a:p>
            <a:pPr lvl="1"/>
            <a:r>
              <a:rPr lang="en-US" sz="2800"/>
              <a:t>Truy cập Web nhanh với cache hiệu suất </a:t>
            </a:r>
            <a:r>
              <a:rPr lang="en-US" sz="2800" smtClean="0"/>
              <a:t>cao</a:t>
            </a:r>
          </a:p>
          <a:p>
            <a:pPr lvl="2"/>
            <a:r>
              <a:rPr lang="en-US" sz="2400"/>
              <a:t>Người dùng có thể truy cập web nhanh hơn bằng cácđối tượng tại chỗ trong cache so với việc phải kết nối vào Internet lúc nào cũng tiềm tàng nguy cơ tắc nghẽn.</a:t>
            </a:r>
            <a:endParaRPr lang="en-US" sz="1100"/>
          </a:p>
          <a:p>
            <a:pPr lvl="2"/>
            <a:r>
              <a:rPr lang="en-US" sz="2400"/>
              <a:t>Giảm giá thành băng thông nhờ giảm lưu lượng internet</a:t>
            </a:r>
            <a:endParaRPr lang="en-US" sz="1100"/>
          </a:p>
          <a:p>
            <a:pPr lvl="2"/>
            <a:r>
              <a:rPr lang="en-US" sz="2400"/>
              <a:t>Phân tán nội dung của các Web server và cácứng dụng thương mạiđiện tử một cách hiệu quả,đápứngđược nhu cầu khách hàng trên toàn cầu (khả năng phân phối nội dung web chỉ có trên phiên bản ISA server Enterprise</a:t>
            </a:r>
            <a:r>
              <a:rPr lang="en-US" sz="2400" smtClean="0"/>
              <a:t>)</a:t>
            </a:r>
            <a:endParaRPr lang="en-US" sz="3200"/>
          </a:p>
        </p:txBody>
      </p:sp>
    </p:spTree>
    <p:extLst>
      <p:ext uri="{BB962C8B-B14F-4D97-AF65-F5344CB8AC3E}">
        <p14:creationId xmlns:p14="http://schemas.microsoft.com/office/powerpoint/2010/main" val="1915024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a:bodyPr>
          <a:lstStyle/>
          <a:p>
            <a:r>
              <a:rPr lang="en-US" smtClean="0"/>
              <a:t>TÌM HIỂU VỀ PHẦN MỀM ISA 2006</a:t>
            </a:r>
            <a:endParaRPr lang="en-US"/>
          </a:p>
        </p:txBody>
      </p:sp>
      <p:sp>
        <p:nvSpPr>
          <p:cNvPr id="3" name="Content Placeholder 2"/>
          <p:cNvSpPr>
            <a:spLocks noGrp="1"/>
          </p:cNvSpPr>
          <p:nvPr>
            <p:ph sz="quarter" idx="14"/>
          </p:nvPr>
        </p:nvSpPr>
        <p:spPr/>
        <p:txBody>
          <a:bodyPr>
            <a:normAutofit fontScale="92500"/>
          </a:bodyPr>
          <a:lstStyle/>
          <a:p>
            <a:r>
              <a:rPr lang="en-US"/>
              <a:t>Tính năng chính của ISA server </a:t>
            </a:r>
            <a:r>
              <a:rPr lang="en-US" smtClean="0"/>
              <a:t>2006</a:t>
            </a:r>
          </a:p>
          <a:p>
            <a:pPr lvl="1"/>
            <a:r>
              <a:rPr lang="en-US" sz="3000" smtClean="0"/>
              <a:t>Kết </a:t>
            </a:r>
            <a:r>
              <a:rPr lang="en-US" sz="3000"/>
              <a:t>nối Internet an toàn nhờ nhiều </a:t>
            </a:r>
            <a:r>
              <a:rPr lang="en-US" sz="3000" smtClean="0"/>
              <a:t>lớp</a:t>
            </a:r>
          </a:p>
          <a:p>
            <a:pPr lvl="2"/>
            <a:r>
              <a:rPr lang="en-US" sz="2400"/>
              <a:t>Bảo vệ mạng trước các truy nhập bất hợp pháp bằng cánh giám sát lưu lượng mạng tại nhiều lớp.</a:t>
            </a:r>
            <a:endParaRPr lang="en-US"/>
          </a:p>
          <a:p>
            <a:pPr lvl="2"/>
            <a:r>
              <a:rPr lang="en-US" sz="2400"/>
              <a:t>Bảo vệ các máy chủ web, email và các ứng dụng khác khỏi sự tấn công từ bên ngoài bằng việc sử dụng web và server quảng bá để xử lý một cách an toàn các yêu cầu đến</a:t>
            </a:r>
            <a:endParaRPr lang="en-US"/>
          </a:p>
          <a:p>
            <a:pPr lvl="2"/>
            <a:r>
              <a:rPr lang="en-US" sz="2400"/>
              <a:t>Lọc lưu lượng mạngđi vàđến để đảm bảo an toàn. </a:t>
            </a:r>
            <a:endParaRPr lang="en-US"/>
          </a:p>
          <a:p>
            <a:pPr lvl="2"/>
            <a:r>
              <a:rPr lang="en-US" sz="2400"/>
              <a:t>Cung cấp truy cập an toan cho người dùng hợp lệ từ Internet tới mạng nội tại nhờ sử dụng mạng </a:t>
            </a:r>
            <a:r>
              <a:rPr lang="en-US" sz="2400" smtClean="0"/>
              <a:t>riêng ảo </a:t>
            </a:r>
            <a:r>
              <a:rPr lang="en-US" sz="2400"/>
              <a:t>(VPN) </a:t>
            </a:r>
            <a:endParaRPr lang="en-US"/>
          </a:p>
        </p:txBody>
      </p:sp>
    </p:spTree>
    <p:extLst>
      <p:ext uri="{BB962C8B-B14F-4D97-AF65-F5344CB8AC3E}">
        <p14:creationId xmlns:p14="http://schemas.microsoft.com/office/powerpoint/2010/main" val="3098916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a:bodyPr>
          <a:lstStyle/>
          <a:p>
            <a:r>
              <a:rPr lang="en-US" smtClean="0"/>
              <a:t>TÌM HIỂU VỀ PHẦN MỀM ISA 2006</a:t>
            </a:r>
            <a:endParaRPr lang="en-US"/>
          </a:p>
        </p:txBody>
      </p:sp>
      <p:sp>
        <p:nvSpPr>
          <p:cNvPr id="3" name="Content Placeholder 2"/>
          <p:cNvSpPr>
            <a:spLocks noGrp="1"/>
          </p:cNvSpPr>
          <p:nvPr>
            <p:ph sz="quarter" idx="14"/>
          </p:nvPr>
        </p:nvSpPr>
        <p:spPr/>
        <p:txBody>
          <a:bodyPr>
            <a:normAutofit/>
          </a:bodyPr>
          <a:lstStyle/>
          <a:p>
            <a:r>
              <a:rPr lang="en-US"/>
              <a:t>Tính năng chính của ISA server </a:t>
            </a:r>
            <a:r>
              <a:rPr lang="en-US" smtClean="0"/>
              <a:t>2006</a:t>
            </a:r>
          </a:p>
          <a:p>
            <a:pPr lvl="1"/>
            <a:r>
              <a:rPr lang="en-US" sz="2800" smtClean="0"/>
              <a:t>Quản </a:t>
            </a:r>
            <a:r>
              <a:rPr lang="en-US" sz="2800"/>
              <a:t>lý thống nhất với sự quản trị tích </a:t>
            </a:r>
            <a:r>
              <a:rPr lang="en-US" sz="2800" smtClean="0"/>
              <a:t>hợp</a:t>
            </a:r>
          </a:p>
          <a:p>
            <a:pPr lvl="2"/>
            <a:r>
              <a:rPr lang="en-US"/>
              <a:t>Điều khiển truy cập tập trung để đảm bảo tính an toàn và phát huy hiệu lực của các chính sách vận hành</a:t>
            </a:r>
            <a:endParaRPr lang="en-US" sz="1400"/>
          </a:p>
          <a:p>
            <a:pPr lvl="2"/>
            <a:r>
              <a:rPr lang="en-US"/>
              <a:t>Tăng hiệu xuất nhờ việc giới hạn truy cập tới internet của một số các ứng dụng và đích đến</a:t>
            </a:r>
            <a:endParaRPr lang="en-US" sz="1400"/>
          </a:p>
          <a:p>
            <a:pPr lvl="2"/>
            <a:r>
              <a:rPr lang="en-US"/>
              <a:t>Cấp phát băng thông để phù hợp với các ưu tiên</a:t>
            </a:r>
            <a:endParaRPr lang="en-US" sz="1400"/>
          </a:p>
          <a:p>
            <a:pPr lvl="2"/>
            <a:r>
              <a:rPr lang="en-US"/>
              <a:t>Cung cấp các công cụ giám sát để chỉ ra các kết nối internet được sử dụng như thế nào</a:t>
            </a:r>
            <a:endParaRPr lang="en-US" sz="1400"/>
          </a:p>
          <a:p>
            <a:pPr lvl="2"/>
            <a:r>
              <a:rPr lang="en-US"/>
              <a:t>Tự động hóa các dịch vụ nhờ sử dụng </a:t>
            </a:r>
            <a:r>
              <a:rPr lang="en-US" smtClean="0"/>
              <a:t>script</a:t>
            </a:r>
            <a:endParaRPr lang="en-US" sz="1400"/>
          </a:p>
        </p:txBody>
      </p:sp>
    </p:spTree>
    <p:extLst>
      <p:ext uri="{BB962C8B-B14F-4D97-AF65-F5344CB8AC3E}">
        <p14:creationId xmlns:p14="http://schemas.microsoft.com/office/powerpoint/2010/main" val="1389140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fontScale="92500"/>
          </a:bodyPr>
          <a:lstStyle/>
          <a:p>
            <a:r>
              <a:rPr lang="en-US" smtClean="0"/>
              <a:t>TÌM HIỂU VỀ PHẦN MỀM ISA 2006</a:t>
            </a:r>
            <a:endParaRPr lang="en-US"/>
          </a:p>
        </p:txBody>
      </p:sp>
      <p:sp>
        <p:nvSpPr>
          <p:cNvPr id="3" name="Content Placeholder 2"/>
          <p:cNvSpPr>
            <a:spLocks noGrp="1"/>
          </p:cNvSpPr>
          <p:nvPr>
            <p:ph sz="quarter" idx="14"/>
          </p:nvPr>
        </p:nvSpPr>
        <p:spPr/>
        <p:txBody>
          <a:bodyPr>
            <a:normAutofit/>
          </a:bodyPr>
          <a:lstStyle/>
          <a:p>
            <a:r>
              <a:rPr lang="en-US"/>
              <a:t>Tính năng chính của ISA server </a:t>
            </a:r>
            <a:r>
              <a:rPr lang="en-US" smtClean="0"/>
              <a:t>2006</a:t>
            </a:r>
          </a:p>
          <a:p>
            <a:pPr lvl="1"/>
            <a:r>
              <a:rPr lang="en-US" sz="2800" smtClean="0"/>
              <a:t>Khả </a:t>
            </a:r>
            <a:r>
              <a:rPr lang="en-US" sz="2800"/>
              <a:t>năng mở </a:t>
            </a:r>
            <a:r>
              <a:rPr lang="en-US" sz="2800" smtClean="0"/>
              <a:t>rộng</a:t>
            </a:r>
          </a:p>
          <a:p>
            <a:pPr lvl="2"/>
            <a:r>
              <a:rPr lang="en-US" sz="2400"/>
              <a:t>Chú trọng tới an toàn và thi hành nhờ sử dụng ISA server software development kit (SDK) với các thành phần bổ sung</a:t>
            </a:r>
            <a:endParaRPr lang="en-US" sz="1100"/>
          </a:p>
          <a:p>
            <a:pPr lvl="2"/>
            <a:r>
              <a:rPr lang="en-US" sz="2400"/>
              <a:t>Chưc năng mở rộng an toàn cho các sản xuất thứ ba</a:t>
            </a:r>
            <a:endParaRPr lang="en-US" sz="1100"/>
          </a:p>
          <a:p>
            <a:pPr lvl="2"/>
            <a:r>
              <a:rPr lang="en-US" sz="2400"/>
              <a:t>Tự động các tác vụ quản trị với các đối tượng script COM ( component object model)</a:t>
            </a:r>
            <a:endParaRPr lang="en-US" sz="1100"/>
          </a:p>
          <a:p>
            <a:pPr lvl="2"/>
            <a:endParaRPr lang="en-US" sz="2600"/>
          </a:p>
        </p:txBody>
      </p:sp>
    </p:spTree>
    <p:extLst>
      <p:ext uri="{BB962C8B-B14F-4D97-AF65-F5344CB8AC3E}">
        <p14:creationId xmlns:p14="http://schemas.microsoft.com/office/powerpoint/2010/main" val="1610528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Thiết lập dải IP gán cho mày client khi kết nối đến</a:t>
            </a:r>
          </a:p>
          <a:p>
            <a:endParaRPr lang="en-US" sz="2400"/>
          </a:p>
          <a:p>
            <a:pPr lvl="2"/>
            <a:endParaRPr lang="en-US" sz="2600"/>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533400" y="2514600"/>
            <a:ext cx="4876800" cy="3810000"/>
          </a:xfrm>
          <a:prstGeom prst="rect">
            <a:avLst/>
          </a:prstGeom>
        </p:spPr>
      </p:pic>
      <p:pic>
        <p:nvPicPr>
          <p:cNvPr id="5" name="Picture 4" descr="D:\Learn\NetworkManagement\BaiTap\ISA\VPN\Win2k3ISA\1.png"/>
          <p:cNvPicPr/>
          <p:nvPr/>
        </p:nvPicPr>
        <p:blipFill>
          <a:blip r:embed="rId3">
            <a:extLst>
              <a:ext uri="{28A0092B-C50C-407E-A947-70E740481C1C}">
                <a14:useLocalDpi xmlns:a14="http://schemas.microsoft.com/office/drawing/2010/main" val="0"/>
              </a:ext>
            </a:extLst>
          </a:blip>
          <a:srcRect/>
          <a:stretch>
            <a:fillRect/>
          </a:stretch>
        </p:blipFill>
        <p:spPr bwMode="auto">
          <a:xfrm>
            <a:off x="5638800" y="2514600"/>
            <a:ext cx="3228975" cy="3810000"/>
          </a:xfrm>
          <a:prstGeom prst="rect">
            <a:avLst/>
          </a:prstGeom>
          <a:noFill/>
          <a:ln>
            <a:noFill/>
          </a:ln>
        </p:spPr>
      </p:pic>
    </p:spTree>
    <p:extLst>
      <p:ext uri="{BB962C8B-B14F-4D97-AF65-F5344CB8AC3E}">
        <p14:creationId xmlns:p14="http://schemas.microsoft.com/office/powerpoint/2010/main" val="36522568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Cho phép VPN Client truy cập</a:t>
            </a:r>
          </a:p>
          <a:p>
            <a:endParaRPr lang="en-US" sz="2400"/>
          </a:p>
          <a:p>
            <a:pPr lvl="2"/>
            <a:endParaRPr lang="en-US" sz="2600"/>
          </a:p>
        </p:txBody>
      </p:sp>
      <p:pic>
        <p:nvPicPr>
          <p:cNvPr id="6" name="Picture 5" descr="D:\Learn\NetworkManagement\BaiTap\ISA\VPN\Win2k3ISA\2.png"/>
          <p:cNvPicPr/>
          <p:nvPr/>
        </p:nvPicPr>
        <p:blipFill>
          <a:blip r:embed="rId2">
            <a:extLst>
              <a:ext uri="{28A0092B-C50C-407E-A947-70E740481C1C}">
                <a14:useLocalDpi xmlns:a14="http://schemas.microsoft.com/office/drawing/2010/main" val="0"/>
              </a:ext>
            </a:extLst>
          </a:blip>
          <a:srcRect/>
          <a:stretch>
            <a:fillRect/>
          </a:stretch>
        </p:blipFill>
        <p:spPr bwMode="auto">
          <a:xfrm>
            <a:off x="5029200" y="2133600"/>
            <a:ext cx="3519170" cy="3810000"/>
          </a:xfrm>
          <a:prstGeom prst="rect">
            <a:avLst/>
          </a:prstGeom>
          <a:noFill/>
          <a:ln>
            <a:noFill/>
          </a:ln>
        </p:spPr>
      </p:pic>
    </p:spTree>
    <p:extLst>
      <p:ext uri="{BB962C8B-B14F-4D97-AF65-F5344CB8AC3E}">
        <p14:creationId xmlns:p14="http://schemas.microsoft.com/office/powerpoint/2010/main" val="18283484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5" name="Picture 4" descr="D:\Learn\NetworkManagement\BaiTap\ISA\VPN\Win2k3ISA\3.png"/>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514600"/>
            <a:ext cx="6448833" cy="4343400"/>
          </a:xfrm>
          <a:prstGeom prst="rect">
            <a:avLst/>
          </a:prstGeom>
          <a:noFill/>
          <a:ln>
            <a:noFill/>
          </a:ln>
        </p:spPr>
      </p:pic>
    </p:spTree>
    <p:extLst>
      <p:ext uri="{BB962C8B-B14F-4D97-AF65-F5344CB8AC3E}">
        <p14:creationId xmlns:p14="http://schemas.microsoft.com/office/powerpoint/2010/main" val="19769420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6" name="Picture 5" descr="D:\Learn\NetworkManagement\BaiTap\ISA\VPN\Win2k3ISA\4.png"/>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543978"/>
            <a:ext cx="6400800" cy="4324432"/>
          </a:xfrm>
          <a:prstGeom prst="rect">
            <a:avLst/>
          </a:prstGeom>
          <a:noFill/>
          <a:ln>
            <a:noFill/>
          </a:ln>
        </p:spPr>
      </p:pic>
    </p:spTree>
    <p:extLst>
      <p:ext uri="{BB962C8B-B14F-4D97-AF65-F5344CB8AC3E}">
        <p14:creationId xmlns:p14="http://schemas.microsoft.com/office/powerpoint/2010/main" val="42574114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5" name="Picture 4" descr="D:\Learn\NetworkManagement\BaiTap\ISA\VPN\Win2k3ISA\5.png"/>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514600"/>
            <a:ext cx="6477000" cy="4351096"/>
          </a:xfrm>
          <a:prstGeom prst="rect">
            <a:avLst/>
          </a:prstGeom>
          <a:noFill/>
          <a:ln>
            <a:noFill/>
          </a:ln>
        </p:spPr>
      </p:pic>
    </p:spTree>
    <p:extLst>
      <p:ext uri="{BB962C8B-B14F-4D97-AF65-F5344CB8AC3E}">
        <p14:creationId xmlns:p14="http://schemas.microsoft.com/office/powerpoint/2010/main" val="19398329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6" name="Picture 5" descr="D:\Learn\NetworkManagement\BaiTap\ISA\VPN\Win2k3ISA\6.png"/>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438399"/>
            <a:ext cx="6705600" cy="4432257"/>
          </a:xfrm>
          <a:prstGeom prst="rect">
            <a:avLst/>
          </a:prstGeom>
          <a:noFill/>
          <a:ln>
            <a:noFill/>
          </a:ln>
        </p:spPr>
      </p:pic>
    </p:spTree>
    <p:extLst>
      <p:ext uri="{BB962C8B-B14F-4D97-AF65-F5344CB8AC3E}">
        <p14:creationId xmlns:p14="http://schemas.microsoft.com/office/powerpoint/2010/main" val="20882373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5" name="Picture 4" descr="D:\Learn\NetworkManagement\BaiTap\ISA\VPN\Win2k3ISA\8.png"/>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438400"/>
            <a:ext cx="8812202" cy="4419600"/>
          </a:xfrm>
          <a:prstGeom prst="rect">
            <a:avLst/>
          </a:prstGeom>
          <a:noFill/>
          <a:ln>
            <a:noFill/>
          </a:ln>
        </p:spPr>
      </p:pic>
    </p:spTree>
    <p:extLst>
      <p:ext uri="{BB962C8B-B14F-4D97-AF65-F5344CB8AC3E}">
        <p14:creationId xmlns:p14="http://schemas.microsoft.com/office/powerpoint/2010/main" val="216417318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6" name="Picture 5" descr="D:\Learn\NetworkManagement\BaiTap\ISA\VPN\Win2k3ISA\9.png"/>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514600"/>
            <a:ext cx="7232072" cy="4343400"/>
          </a:xfrm>
          <a:prstGeom prst="rect">
            <a:avLst/>
          </a:prstGeom>
          <a:noFill/>
          <a:ln>
            <a:noFill/>
          </a:ln>
        </p:spPr>
      </p:pic>
    </p:spTree>
    <p:extLst>
      <p:ext uri="{BB962C8B-B14F-4D97-AF65-F5344CB8AC3E}">
        <p14:creationId xmlns:p14="http://schemas.microsoft.com/office/powerpoint/2010/main" val="11508115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6" name="Picture 5" descr="D:\Learn\NetworkManagement\BaiTap\ISA\VPN\Win2k3ISA\9.png"/>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514600"/>
            <a:ext cx="7232072" cy="4343400"/>
          </a:xfrm>
          <a:prstGeom prst="rect">
            <a:avLst/>
          </a:prstGeom>
          <a:noFill/>
          <a:ln>
            <a:noFill/>
          </a:ln>
        </p:spPr>
      </p:pic>
    </p:spTree>
    <p:extLst>
      <p:ext uri="{BB962C8B-B14F-4D97-AF65-F5344CB8AC3E}">
        <p14:creationId xmlns:p14="http://schemas.microsoft.com/office/powerpoint/2010/main" val="41870391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5" name="Picture 4" descr="D:\Learn\NetworkManagement\BaiTap\ISA\VPN\Win2k3ISA\10.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865" y="2514600"/>
            <a:ext cx="8845135" cy="4364182"/>
          </a:xfrm>
          <a:prstGeom prst="rect">
            <a:avLst/>
          </a:prstGeom>
          <a:noFill/>
          <a:ln>
            <a:noFill/>
          </a:ln>
        </p:spPr>
      </p:pic>
    </p:spTree>
    <p:extLst>
      <p:ext uri="{BB962C8B-B14F-4D97-AF65-F5344CB8AC3E}">
        <p14:creationId xmlns:p14="http://schemas.microsoft.com/office/powerpoint/2010/main" val="9657584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6" name="Picture 5" descr="D:\Learn\NetworkManagement\BaiTap\ISA\VPN\Win2k3ISA\11.png"/>
          <p:cNvPicPr/>
          <p:nvPr/>
        </p:nvPicPr>
        <p:blipFill>
          <a:blip r:embed="rId2">
            <a:extLst>
              <a:ext uri="{28A0092B-C50C-407E-A947-70E740481C1C}">
                <a14:useLocalDpi xmlns:a14="http://schemas.microsoft.com/office/drawing/2010/main" val="0"/>
              </a:ext>
            </a:extLst>
          </a:blip>
          <a:srcRect/>
          <a:stretch>
            <a:fillRect/>
          </a:stretch>
        </p:blipFill>
        <p:spPr bwMode="auto">
          <a:xfrm>
            <a:off x="0" y="3124201"/>
            <a:ext cx="9123218" cy="3733800"/>
          </a:xfrm>
          <a:prstGeom prst="rect">
            <a:avLst/>
          </a:prstGeom>
          <a:noFill/>
          <a:ln>
            <a:noFill/>
          </a:ln>
        </p:spPr>
      </p:pic>
    </p:spTree>
    <p:extLst>
      <p:ext uri="{BB962C8B-B14F-4D97-AF65-F5344CB8AC3E}">
        <p14:creationId xmlns:p14="http://schemas.microsoft.com/office/powerpoint/2010/main" val="14788359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5" name="Picture 4" descr="D:\Learn\NetworkManagement\BaiTap\ISA\VPN\Win2k3ISA\12.png"/>
          <p:cNvPicPr/>
          <p:nvPr/>
        </p:nvPicPr>
        <p:blipFill>
          <a:blip r:embed="rId2">
            <a:extLst>
              <a:ext uri="{28A0092B-C50C-407E-A947-70E740481C1C}">
                <a14:useLocalDpi xmlns:a14="http://schemas.microsoft.com/office/drawing/2010/main" val="0"/>
              </a:ext>
            </a:extLst>
          </a:blip>
          <a:srcRect/>
          <a:stretch>
            <a:fillRect/>
          </a:stretch>
        </p:blipFill>
        <p:spPr bwMode="auto">
          <a:xfrm>
            <a:off x="685800" y="2667000"/>
            <a:ext cx="5464175" cy="2743200"/>
          </a:xfrm>
          <a:prstGeom prst="rect">
            <a:avLst/>
          </a:prstGeom>
          <a:noFill/>
          <a:ln>
            <a:noFill/>
          </a:ln>
        </p:spPr>
      </p:pic>
    </p:spTree>
    <p:extLst>
      <p:ext uri="{BB962C8B-B14F-4D97-AF65-F5344CB8AC3E}">
        <p14:creationId xmlns:p14="http://schemas.microsoft.com/office/powerpoint/2010/main" val="329282940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6" name="Picture 5" descr="D:\Learn\NetworkManagement\BaiTap\ISA\VPN\Win2k3ISA\13.png"/>
          <p:cNvPicPr/>
          <p:nvPr/>
        </p:nvPicPr>
        <p:blipFill>
          <a:blip r:embed="rId2">
            <a:extLst>
              <a:ext uri="{28A0092B-C50C-407E-A947-70E740481C1C}">
                <a14:useLocalDpi xmlns:a14="http://schemas.microsoft.com/office/drawing/2010/main" val="0"/>
              </a:ext>
            </a:extLst>
          </a:blip>
          <a:srcRect/>
          <a:stretch>
            <a:fillRect/>
          </a:stretch>
        </p:blipFill>
        <p:spPr bwMode="auto">
          <a:xfrm>
            <a:off x="1908492" y="2009457"/>
            <a:ext cx="5327015" cy="2839085"/>
          </a:xfrm>
          <a:prstGeom prst="rect">
            <a:avLst/>
          </a:prstGeom>
          <a:noFill/>
          <a:ln>
            <a:noFill/>
          </a:ln>
        </p:spPr>
      </p:pic>
    </p:spTree>
    <p:extLst>
      <p:ext uri="{BB962C8B-B14F-4D97-AF65-F5344CB8AC3E}">
        <p14:creationId xmlns:p14="http://schemas.microsoft.com/office/powerpoint/2010/main" val="11842817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5" name="Picture 4" descr="D:\Learn\NetworkManagement\BaiTap\ISA\VPN\Win2k3ISA\14.png"/>
          <p:cNvPicPr/>
          <p:nvPr/>
        </p:nvPicPr>
        <p:blipFill>
          <a:blip r:embed="rId2">
            <a:extLst>
              <a:ext uri="{28A0092B-C50C-407E-A947-70E740481C1C}">
                <a14:useLocalDpi xmlns:a14="http://schemas.microsoft.com/office/drawing/2010/main" val="0"/>
              </a:ext>
            </a:extLst>
          </a:blip>
          <a:srcRect/>
          <a:stretch>
            <a:fillRect/>
          </a:stretch>
        </p:blipFill>
        <p:spPr bwMode="auto">
          <a:xfrm>
            <a:off x="1876107" y="1992312"/>
            <a:ext cx="5391785" cy="2873375"/>
          </a:xfrm>
          <a:prstGeom prst="rect">
            <a:avLst/>
          </a:prstGeom>
          <a:noFill/>
          <a:ln>
            <a:noFill/>
          </a:ln>
        </p:spPr>
      </p:pic>
    </p:spTree>
    <p:extLst>
      <p:ext uri="{BB962C8B-B14F-4D97-AF65-F5344CB8AC3E}">
        <p14:creationId xmlns:p14="http://schemas.microsoft.com/office/powerpoint/2010/main" val="13934621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6" name="Picture 5" descr="D:\Learn\NetworkManagement\BaiTap\ISA\VPN\Win2k3ISA\15.png"/>
          <p:cNvPicPr/>
          <p:nvPr/>
        </p:nvPicPr>
        <p:blipFill>
          <a:blip r:embed="rId2">
            <a:extLst>
              <a:ext uri="{28A0092B-C50C-407E-A947-70E740481C1C}">
                <a14:useLocalDpi xmlns:a14="http://schemas.microsoft.com/office/drawing/2010/main" val="0"/>
              </a:ext>
            </a:extLst>
          </a:blip>
          <a:srcRect/>
          <a:stretch>
            <a:fillRect/>
          </a:stretch>
        </p:blipFill>
        <p:spPr bwMode="auto">
          <a:xfrm>
            <a:off x="1900555" y="2089150"/>
            <a:ext cx="5342890" cy="2679700"/>
          </a:xfrm>
          <a:prstGeom prst="rect">
            <a:avLst/>
          </a:prstGeom>
          <a:noFill/>
          <a:ln>
            <a:noFill/>
          </a:ln>
        </p:spPr>
      </p:pic>
    </p:spTree>
    <p:extLst>
      <p:ext uri="{BB962C8B-B14F-4D97-AF65-F5344CB8AC3E}">
        <p14:creationId xmlns:p14="http://schemas.microsoft.com/office/powerpoint/2010/main" val="278767084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5" name="Picture 4" descr="D:\Learn\NetworkManagement\BaiTap\ISA\VPN\Win2k3ISA\16.png"/>
          <p:cNvPicPr/>
          <p:nvPr/>
        </p:nvPicPr>
        <p:blipFill>
          <a:blip r:embed="rId2">
            <a:extLst>
              <a:ext uri="{28A0092B-C50C-407E-A947-70E740481C1C}">
                <a14:useLocalDpi xmlns:a14="http://schemas.microsoft.com/office/drawing/2010/main" val="0"/>
              </a:ext>
            </a:extLst>
          </a:blip>
          <a:srcRect/>
          <a:stretch>
            <a:fillRect/>
          </a:stretch>
        </p:blipFill>
        <p:spPr bwMode="auto">
          <a:xfrm>
            <a:off x="1891982" y="1627505"/>
            <a:ext cx="5360035" cy="3602990"/>
          </a:xfrm>
          <a:prstGeom prst="rect">
            <a:avLst/>
          </a:prstGeom>
          <a:noFill/>
          <a:ln>
            <a:noFill/>
          </a:ln>
        </p:spPr>
      </p:pic>
    </p:spTree>
    <p:extLst>
      <p:ext uri="{BB962C8B-B14F-4D97-AF65-F5344CB8AC3E}">
        <p14:creationId xmlns:p14="http://schemas.microsoft.com/office/powerpoint/2010/main" val="16217353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ISA</a:t>
            </a:r>
          </a:p>
          <a:p>
            <a:r>
              <a:rPr lang="en-US" sz="2000" smtClean="0"/>
              <a:t>Tạo rule cho phép truy cập</a:t>
            </a:r>
          </a:p>
          <a:p>
            <a:endParaRPr lang="en-US" sz="2400"/>
          </a:p>
          <a:p>
            <a:pPr lvl="2"/>
            <a:endParaRPr lang="en-US" sz="2600"/>
          </a:p>
        </p:txBody>
      </p:sp>
      <p:pic>
        <p:nvPicPr>
          <p:cNvPr id="6" name="Picture 5" descr="D:\Learn\NetworkManagement\BaiTap\ISA\VPN\Win2k3ISA\17.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40597" y="2038350"/>
            <a:ext cx="4662805" cy="2781300"/>
          </a:xfrm>
          <a:prstGeom prst="rect">
            <a:avLst/>
          </a:prstGeom>
          <a:noFill/>
          <a:ln>
            <a:noFill/>
          </a:ln>
        </p:spPr>
      </p:pic>
    </p:spTree>
    <p:extLst>
      <p:ext uri="{BB962C8B-B14F-4D97-AF65-F5344CB8AC3E}">
        <p14:creationId xmlns:p14="http://schemas.microsoft.com/office/powerpoint/2010/main" val="86405800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client</a:t>
            </a:r>
          </a:p>
          <a:p>
            <a:endParaRPr lang="en-US" sz="2000" smtClean="0"/>
          </a:p>
          <a:p>
            <a:endParaRPr lang="en-US" sz="2400"/>
          </a:p>
          <a:p>
            <a:pPr lvl="2"/>
            <a:endParaRPr lang="en-US" sz="2600"/>
          </a:p>
        </p:txBody>
      </p:sp>
      <p:pic>
        <p:nvPicPr>
          <p:cNvPr id="5" name="Picture 4" descr="D:\Learn\NetworkManagement\BaiTap\ISA\VPN\WinXPClient\Windows XP-2012-10-24-16-20-52.png"/>
          <p:cNvPicPr/>
          <p:nvPr/>
        </p:nvPicPr>
        <p:blipFill>
          <a:blip r:embed="rId2">
            <a:extLst>
              <a:ext uri="{28A0092B-C50C-407E-A947-70E740481C1C}">
                <a14:useLocalDpi xmlns:a14="http://schemas.microsoft.com/office/drawing/2010/main" val="0"/>
              </a:ext>
            </a:extLst>
          </a:blip>
          <a:srcRect/>
          <a:stretch>
            <a:fillRect/>
          </a:stretch>
        </p:blipFill>
        <p:spPr bwMode="auto">
          <a:xfrm>
            <a:off x="2181225" y="1562100"/>
            <a:ext cx="4781550" cy="3733800"/>
          </a:xfrm>
          <a:prstGeom prst="rect">
            <a:avLst/>
          </a:prstGeom>
          <a:noFill/>
          <a:ln>
            <a:noFill/>
          </a:ln>
        </p:spPr>
      </p:pic>
    </p:spTree>
    <p:extLst>
      <p:ext uri="{BB962C8B-B14F-4D97-AF65-F5344CB8AC3E}">
        <p14:creationId xmlns:p14="http://schemas.microsoft.com/office/powerpoint/2010/main" val="18591748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client</a:t>
            </a:r>
          </a:p>
          <a:p>
            <a:endParaRPr lang="en-US" sz="2000" smtClean="0"/>
          </a:p>
          <a:p>
            <a:endParaRPr lang="en-US" sz="2400"/>
          </a:p>
          <a:p>
            <a:pPr lvl="2"/>
            <a:endParaRPr lang="en-US" sz="2600"/>
          </a:p>
        </p:txBody>
      </p:sp>
      <p:pic>
        <p:nvPicPr>
          <p:cNvPr id="6" name="Picture 5" descr="D:\Learn\NetworkManagement\BaiTap\ISA\VPN\WinXPClient\Windows XP-2012-10-24-16-21-01.png"/>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133600"/>
            <a:ext cx="5791200" cy="4522212"/>
          </a:xfrm>
          <a:prstGeom prst="rect">
            <a:avLst/>
          </a:prstGeom>
          <a:noFill/>
          <a:ln>
            <a:noFill/>
          </a:ln>
        </p:spPr>
      </p:pic>
    </p:spTree>
    <p:extLst>
      <p:ext uri="{BB962C8B-B14F-4D97-AF65-F5344CB8AC3E}">
        <p14:creationId xmlns:p14="http://schemas.microsoft.com/office/powerpoint/2010/main" val="17688512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client</a:t>
            </a:r>
          </a:p>
          <a:p>
            <a:endParaRPr lang="en-US" sz="2000" smtClean="0"/>
          </a:p>
          <a:p>
            <a:endParaRPr lang="en-US" sz="2400"/>
          </a:p>
          <a:p>
            <a:pPr lvl="2"/>
            <a:endParaRPr lang="en-US" sz="2600"/>
          </a:p>
        </p:txBody>
      </p:sp>
      <p:pic>
        <p:nvPicPr>
          <p:cNvPr id="5" name="Picture 4" descr="D:\Learn\NetworkManagement\BaiTap\ISA\VPN\WinXPClient\Windows XP-2012-10-24-16-21-09.png"/>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09800"/>
            <a:ext cx="6324600" cy="4343400"/>
          </a:xfrm>
          <a:prstGeom prst="rect">
            <a:avLst/>
          </a:prstGeom>
          <a:noFill/>
          <a:ln>
            <a:noFill/>
          </a:ln>
        </p:spPr>
      </p:pic>
    </p:spTree>
    <p:extLst>
      <p:ext uri="{BB962C8B-B14F-4D97-AF65-F5344CB8AC3E}">
        <p14:creationId xmlns:p14="http://schemas.microsoft.com/office/powerpoint/2010/main" val="158474845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client</a:t>
            </a:r>
          </a:p>
          <a:p>
            <a:endParaRPr lang="en-US" sz="2000" smtClean="0"/>
          </a:p>
          <a:p>
            <a:endParaRPr lang="en-US" sz="2400"/>
          </a:p>
          <a:p>
            <a:pPr lvl="2"/>
            <a:endParaRPr lang="en-US" sz="2600"/>
          </a:p>
        </p:txBody>
      </p:sp>
      <p:pic>
        <p:nvPicPr>
          <p:cNvPr id="6" name="Picture 5" descr="D:\Learn\NetworkManagement\BaiTap\ISA\VPN\WinXPClient\Windows XP-2012-10-24-16-21-55.png"/>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057400"/>
            <a:ext cx="5638800" cy="4267200"/>
          </a:xfrm>
          <a:prstGeom prst="rect">
            <a:avLst/>
          </a:prstGeom>
          <a:noFill/>
          <a:ln>
            <a:noFill/>
          </a:ln>
        </p:spPr>
      </p:pic>
    </p:spTree>
    <p:extLst>
      <p:ext uri="{BB962C8B-B14F-4D97-AF65-F5344CB8AC3E}">
        <p14:creationId xmlns:p14="http://schemas.microsoft.com/office/powerpoint/2010/main" val="22392058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client</a:t>
            </a:r>
          </a:p>
          <a:p>
            <a:endParaRPr lang="en-US" sz="2000" smtClean="0"/>
          </a:p>
          <a:p>
            <a:endParaRPr lang="en-US" sz="2400"/>
          </a:p>
          <a:p>
            <a:pPr lvl="2"/>
            <a:endParaRPr lang="en-US" sz="2600"/>
          </a:p>
        </p:txBody>
      </p:sp>
      <p:pic>
        <p:nvPicPr>
          <p:cNvPr id="5" name="Picture 4" descr="D:\Learn\NetworkManagement\BaiTap\ISA\VPN\WinXPClient\Windows XP-2012-10-24-16-22-04.png"/>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133600"/>
            <a:ext cx="5334000" cy="4038600"/>
          </a:xfrm>
          <a:prstGeom prst="rect">
            <a:avLst/>
          </a:prstGeom>
          <a:noFill/>
          <a:ln>
            <a:noFill/>
          </a:ln>
        </p:spPr>
      </p:pic>
    </p:spTree>
    <p:extLst>
      <p:ext uri="{BB962C8B-B14F-4D97-AF65-F5344CB8AC3E}">
        <p14:creationId xmlns:p14="http://schemas.microsoft.com/office/powerpoint/2010/main" val="18472685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client</a:t>
            </a:r>
          </a:p>
          <a:p>
            <a:endParaRPr lang="en-US" sz="2000" smtClean="0"/>
          </a:p>
          <a:p>
            <a:endParaRPr lang="en-US" sz="2400"/>
          </a:p>
          <a:p>
            <a:pPr lvl="2"/>
            <a:endParaRPr lang="en-US" sz="2600"/>
          </a:p>
        </p:txBody>
      </p:sp>
      <p:pic>
        <p:nvPicPr>
          <p:cNvPr id="6" name="Picture 5" descr="D:\Learn\NetworkManagement\BaiTap\ISA\VPN\WinXPClient\Windows XP-2012-10-24-16-22-11.png"/>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057400"/>
            <a:ext cx="5791200" cy="4522212"/>
          </a:xfrm>
          <a:prstGeom prst="rect">
            <a:avLst/>
          </a:prstGeom>
          <a:noFill/>
          <a:ln>
            <a:noFill/>
          </a:ln>
        </p:spPr>
      </p:pic>
    </p:spTree>
    <p:extLst>
      <p:ext uri="{BB962C8B-B14F-4D97-AF65-F5344CB8AC3E}">
        <p14:creationId xmlns:p14="http://schemas.microsoft.com/office/powerpoint/2010/main" val="225236805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client</a:t>
            </a:r>
          </a:p>
          <a:p>
            <a:endParaRPr lang="en-US" sz="2000" smtClean="0"/>
          </a:p>
          <a:p>
            <a:endParaRPr lang="en-US" sz="2400"/>
          </a:p>
          <a:p>
            <a:pPr lvl="2"/>
            <a:endParaRPr lang="en-US" sz="2600"/>
          </a:p>
        </p:txBody>
      </p:sp>
      <p:pic>
        <p:nvPicPr>
          <p:cNvPr id="5" name="Picture 4" descr="D:\Learn\NetworkManagement\BaiTap\ISA\VPN\WinXPClient\Windows XP-2012-10-24-16-22-49.png"/>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057400"/>
            <a:ext cx="4419600" cy="4724400"/>
          </a:xfrm>
          <a:prstGeom prst="rect">
            <a:avLst/>
          </a:prstGeom>
          <a:noFill/>
          <a:ln>
            <a:noFill/>
          </a:ln>
        </p:spPr>
      </p:pic>
    </p:spTree>
    <p:extLst>
      <p:ext uri="{BB962C8B-B14F-4D97-AF65-F5344CB8AC3E}">
        <p14:creationId xmlns:p14="http://schemas.microsoft.com/office/powerpoint/2010/main" val="117613159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client</a:t>
            </a:r>
          </a:p>
          <a:p>
            <a:endParaRPr lang="en-US" sz="2000" smtClean="0"/>
          </a:p>
          <a:p>
            <a:endParaRPr lang="en-US" sz="2400"/>
          </a:p>
          <a:p>
            <a:pPr lvl="2"/>
            <a:endParaRPr lang="en-US" sz="2600"/>
          </a:p>
        </p:txBody>
      </p:sp>
      <p:pic>
        <p:nvPicPr>
          <p:cNvPr id="6" name="Picture 5" descr="D:\Learn\NetworkManagement\BaiTap\ISA\VPN\WinXPClient\Windows XP-2012-10-24-16-23-02.png"/>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667000"/>
            <a:ext cx="5871746" cy="2428875"/>
          </a:xfrm>
          <a:prstGeom prst="rect">
            <a:avLst/>
          </a:prstGeom>
          <a:noFill/>
          <a:ln>
            <a:noFill/>
          </a:ln>
        </p:spPr>
      </p:pic>
    </p:spTree>
    <p:extLst>
      <p:ext uri="{BB962C8B-B14F-4D97-AF65-F5344CB8AC3E}">
        <p14:creationId xmlns:p14="http://schemas.microsoft.com/office/powerpoint/2010/main" val="426258919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CÀI ĐẶT VPN TRÊN ISA 2006</a:t>
            </a:r>
            <a:endParaRPr lang="en-US"/>
          </a:p>
        </p:txBody>
      </p:sp>
      <p:sp>
        <p:nvSpPr>
          <p:cNvPr id="3" name="Content Placeholder 2"/>
          <p:cNvSpPr>
            <a:spLocks noGrp="1"/>
          </p:cNvSpPr>
          <p:nvPr>
            <p:ph sz="quarter" idx="14"/>
          </p:nvPr>
        </p:nvSpPr>
        <p:spPr/>
        <p:txBody>
          <a:bodyPr>
            <a:normAutofit/>
          </a:bodyPr>
          <a:lstStyle/>
          <a:p>
            <a:r>
              <a:rPr lang="en-US"/>
              <a:t> </a:t>
            </a:r>
            <a:r>
              <a:rPr lang="en-US" smtClean="0"/>
              <a:t>Cấu hình trên máy client</a:t>
            </a:r>
          </a:p>
          <a:p>
            <a:endParaRPr lang="en-US" sz="2000" smtClean="0"/>
          </a:p>
          <a:p>
            <a:endParaRPr lang="en-US" sz="2400"/>
          </a:p>
          <a:p>
            <a:pPr lvl="2"/>
            <a:endParaRPr lang="en-US" sz="2600"/>
          </a:p>
        </p:txBody>
      </p:sp>
      <p:pic>
        <p:nvPicPr>
          <p:cNvPr id="5" name="Picture 4" descr="D:\Learn\NetworkManagement\BaiTap\ISA\VPN\WinXPClient\Windows XP-2012-10-24-16-23-36.png"/>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057400"/>
            <a:ext cx="3997036" cy="4772891"/>
          </a:xfrm>
          <a:prstGeom prst="rect">
            <a:avLst/>
          </a:prstGeom>
          <a:noFill/>
          <a:ln>
            <a:noFill/>
          </a:ln>
        </p:spPr>
      </p:pic>
    </p:spTree>
    <p:extLst>
      <p:ext uri="{BB962C8B-B14F-4D97-AF65-F5344CB8AC3E}">
        <p14:creationId xmlns:p14="http://schemas.microsoft.com/office/powerpoint/2010/main" val="38201199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giao </a:t>
            </a:r>
            <a:r>
              <a:rPr lang="en-US" smtClean="0"/>
              <a:t>thức</a:t>
            </a:r>
          </a:p>
          <a:p>
            <a:endParaRPr lang="en-US" sz="2000" smtClean="0"/>
          </a:p>
          <a:p>
            <a:endParaRPr lang="en-US" sz="2400"/>
          </a:p>
          <a:p>
            <a:pPr lvl="2"/>
            <a:endParaRPr lang="en-US" sz="260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35" y="2346423"/>
            <a:ext cx="9144000" cy="4511577"/>
          </a:xfrm>
          <a:prstGeom prst="rect">
            <a:avLst/>
          </a:prstGeom>
        </p:spPr>
      </p:pic>
    </p:spTree>
    <p:extLst>
      <p:ext uri="{BB962C8B-B14F-4D97-AF65-F5344CB8AC3E}">
        <p14:creationId xmlns:p14="http://schemas.microsoft.com/office/powerpoint/2010/main" val="400850452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giao </a:t>
            </a:r>
            <a:r>
              <a:rPr lang="en-US" smtClean="0"/>
              <a:t>thức</a:t>
            </a:r>
            <a:endParaRPr lang="en-US" sz="2000" smtClean="0"/>
          </a:p>
          <a:p>
            <a:endParaRPr lang="en-US" sz="2400"/>
          </a:p>
          <a:p>
            <a:pPr lvl="2"/>
            <a:endParaRPr lang="en-US" sz="2600"/>
          </a:p>
        </p:txBody>
      </p:sp>
      <p:pic>
        <p:nvPicPr>
          <p:cNvPr id="4" name="Picture 3" descr="D:\Learn\NetworkManagement\BaiTap\Deny(HTTP..HTTPS)\Deny(HTTP..HTTPS)\1.PNG"/>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362200"/>
            <a:ext cx="5638800" cy="4191000"/>
          </a:xfrm>
          <a:prstGeom prst="rect">
            <a:avLst/>
          </a:prstGeom>
          <a:noFill/>
          <a:ln>
            <a:noFill/>
          </a:ln>
        </p:spPr>
      </p:pic>
    </p:spTree>
    <p:extLst>
      <p:ext uri="{BB962C8B-B14F-4D97-AF65-F5344CB8AC3E}">
        <p14:creationId xmlns:p14="http://schemas.microsoft.com/office/powerpoint/2010/main" val="28829410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giao </a:t>
            </a:r>
            <a:r>
              <a:rPr lang="en-US" smtClean="0"/>
              <a:t>thức</a:t>
            </a:r>
            <a:endParaRPr lang="en-US" sz="2000" smtClean="0"/>
          </a:p>
          <a:p>
            <a:endParaRPr lang="en-US" sz="2400"/>
          </a:p>
          <a:p>
            <a:pPr lvl="2"/>
            <a:endParaRPr lang="en-US" sz="2600"/>
          </a:p>
        </p:txBody>
      </p:sp>
      <p:pic>
        <p:nvPicPr>
          <p:cNvPr id="5" name="Picture 4" descr="D:\Learn\NetworkManagement\BaiTap\Deny(HTTP..HTTPS)\Deny(HTTP..HTTPS)\2.PNG"/>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362200"/>
            <a:ext cx="4787900" cy="3674745"/>
          </a:xfrm>
          <a:prstGeom prst="rect">
            <a:avLst/>
          </a:prstGeom>
          <a:noFill/>
          <a:ln>
            <a:noFill/>
          </a:ln>
        </p:spPr>
      </p:pic>
    </p:spTree>
    <p:extLst>
      <p:ext uri="{BB962C8B-B14F-4D97-AF65-F5344CB8AC3E}">
        <p14:creationId xmlns:p14="http://schemas.microsoft.com/office/powerpoint/2010/main" val="17047833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giao </a:t>
            </a:r>
            <a:r>
              <a:rPr lang="en-US" smtClean="0"/>
              <a:t>thức</a:t>
            </a:r>
            <a:endParaRPr lang="en-US" sz="2000" smtClean="0"/>
          </a:p>
          <a:p>
            <a:endParaRPr lang="en-US" sz="2400"/>
          </a:p>
          <a:p>
            <a:pPr lvl="2"/>
            <a:endParaRPr lang="en-US" sz="2600"/>
          </a:p>
        </p:txBody>
      </p:sp>
      <p:pic>
        <p:nvPicPr>
          <p:cNvPr id="6" name="Picture 5" descr="D:\Learn\NetworkManagement\BaiTap\Deny(HTTP..HTTPS)\Deny(HTTP..HTTPS)\3.PNG"/>
          <p:cNvPicPr/>
          <p:nvPr/>
        </p:nvPicPr>
        <p:blipFill>
          <a:blip r:embed="rId2">
            <a:extLst>
              <a:ext uri="{28A0092B-C50C-407E-A947-70E740481C1C}">
                <a14:useLocalDpi xmlns:a14="http://schemas.microsoft.com/office/drawing/2010/main" val="0"/>
              </a:ext>
            </a:extLst>
          </a:blip>
          <a:srcRect/>
          <a:stretch>
            <a:fillRect/>
          </a:stretch>
        </p:blipFill>
        <p:spPr bwMode="auto">
          <a:xfrm>
            <a:off x="2147754" y="2209800"/>
            <a:ext cx="4787900" cy="3674745"/>
          </a:xfrm>
          <a:prstGeom prst="rect">
            <a:avLst/>
          </a:prstGeom>
          <a:noFill/>
          <a:ln>
            <a:noFill/>
          </a:ln>
        </p:spPr>
      </p:pic>
    </p:spTree>
    <p:extLst>
      <p:ext uri="{BB962C8B-B14F-4D97-AF65-F5344CB8AC3E}">
        <p14:creationId xmlns:p14="http://schemas.microsoft.com/office/powerpoint/2010/main" val="332242542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giao </a:t>
            </a:r>
            <a:r>
              <a:rPr lang="en-US" smtClean="0"/>
              <a:t>thức</a:t>
            </a:r>
            <a:endParaRPr lang="en-US" sz="2000" smtClean="0"/>
          </a:p>
          <a:p>
            <a:endParaRPr lang="en-US" sz="2400"/>
          </a:p>
          <a:p>
            <a:pPr lvl="2"/>
            <a:endParaRPr lang="en-US" sz="2600"/>
          </a:p>
        </p:txBody>
      </p:sp>
      <p:pic>
        <p:nvPicPr>
          <p:cNvPr id="5" name="Picture 4" descr="D:\Learn\NetworkManagement\BaiTap\Deny(HTTP..HTTPS)\Deny(HTTP..HTTPS)\4.PNG"/>
          <p:cNvPicPr/>
          <p:nvPr/>
        </p:nvPicPr>
        <p:blipFill>
          <a:blip r:embed="rId2">
            <a:extLst>
              <a:ext uri="{28A0092B-C50C-407E-A947-70E740481C1C}">
                <a14:useLocalDpi xmlns:a14="http://schemas.microsoft.com/office/drawing/2010/main" val="0"/>
              </a:ext>
            </a:extLst>
          </a:blip>
          <a:srcRect/>
          <a:stretch>
            <a:fillRect/>
          </a:stretch>
        </p:blipFill>
        <p:spPr bwMode="auto">
          <a:xfrm>
            <a:off x="2156016" y="2514600"/>
            <a:ext cx="4787900" cy="3674745"/>
          </a:xfrm>
          <a:prstGeom prst="rect">
            <a:avLst/>
          </a:prstGeom>
          <a:noFill/>
          <a:ln>
            <a:noFill/>
          </a:ln>
        </p:spPr>
      </p:pic>
    </p:spTree>
    <p:extLst>
      <p:ext uri="{BB962C8B-B14F-4D97-AF65-F5344CB8AC3E}">
        <p14:creationId xmlns:p14="http://schemas.microsoft.com/office/powerpoint/2010/main" val="44452449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giao </a:t>
            </a:r>
            <a:r>
              <a:rPr lang="en-US" smtClean="0"/>
              <a:t>thức</a:t>
            </a:r>
            <a:endParaRPr lang="en-US" sz="2000" smtClean="0"/>
          </a:p>
          <a:p>
            <a:endParaRPr lang="en-US" sz="2400"/>
          </a:p>
          <a:p>
            <a:pPr lvl="2"/>
            <a:endParaRPr lang="en-US" sz="2600"/>
          </a:p>
        </p:txBody>
      </p:sp>
      <p:pic>
        <p:nvPicPr>
          <p:cNvPr id="6" name="Picture 5" descr="D:\Learn\NetworkManagement\BaiTap\Deny(HTTP..HTTPS)\Deny(HTTP..HTTPS)\5.1.PNG"/>
          <p:cNvPicPr/>
          <p:nvPr/>
        </p:nvPicPr>
        <p:blipFill>
          <a:blip r:embed="rId2">
            <a:extLst>
              <a:ext uri="{28A0092B-C50C-407E-A947-70E740481C1C}">
                <a14:useLocalDpi xmlns:a14="http://schemas.microsoft.com/office/drawing/2010/main" val="0"/>
              </a:ext>
            </a:extLst>
          </a:blip>
          <a:srcRect/>
          <a:stretch>
            <a:fillRect/>
          </a:stretch>
        </p:blipFill>
        <p:spPr bwMode="auto">
          <a:xfrm>
            <a:off x="2203155" y="2590800"/>
            <a:ext cx="4787265" cy="3398520"/>
          </a:xfrm>
          <a:prstGeom prst="rect">
            <a:avLst/>
          </a:prstGeom>
          <a:noFill/>
          <a:ln>
            <a:noFill/>
          </a:ln>
        </p:spPr>
      </p:pic>
    </p:spTree>
    <p:extLst>
      <p:ext uri="{BB962C8B-B14F-4D97-AF65-F5344CB8AC3E}">
        <p14:creationId xmlns:p14="http://schemas.microsoft.com/office/powerpoint/2010/main" val="34743219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giao </a:t>
            </a:r>
            <a:r>
              <a:rPr lang="en-US" smtClean="0"/>
              <a:t>thức</a:t>
            </a:r>
            <a:endParaRPr lang="en-US" sz="2000" smtClean="0"/>
          </a:p>
          <a:p>
            <a:endParaRPr lang="en-US" sz="2400"/>
          </a:p>
          <a:p>
            <a:pPr lvl="2"/>
            <a:endParaRPr lang="en-US" sz="2600"/>
          </a:p>
        </p:txBody>
      </p:sp>
      <p:pic>
        <p:nvPicPr>
          <p:cNvPr id="5" name="Picture 4" descr="D:\Learn\NetworkManagement\BaiTap\Deny(HTTP..HTTPS)\Deny(HTTP..HTTPS)\5.2.PNG"/>
          <p:cNvPicPr/>
          <p:nvPr/>
        </p:nvPicPr>
        <p:blipFill>
          <a:blip r:embed="rId2">
            <a:extLst>
              <a:ext uri="{28A0092B-C50C-407E-A947-70E740481C1C}">
                <a14:useLocalDpi xmlns:a14="http://schemas.microsoft.com/office/drawing/2010/main" val="0"/>
              </a:ext>
            </a:extLst>
          </a:blip>
          <a:srcRect/>
          <a:stretch>
            <a:fillRect/>
          </a:stretch>
        </p:blipFill>
        <p:spPr bwMode="auto">
          <a:xfrm>
            <a:off x="914400" y="2057400"/>
            <a:ext cx="6172200" cy="4419600"/>
          </a:xfrm>
          <a:prstGeom prst="rect">
            <a:avLst/>
          </a:prstGeom>
          <a:noFill/>
          <a:ln>
            <a:noFill/>
          </a:ln>
        </p:spPr>
      </p:pic>
    </p:spTree>
    <p:extLst>
      <p:ext uri="{BB962C8B-B14F-4D97-AF65-F5344CB8AC3E}">
        <p14:creationId xmlns:p14="http://schemas.microsoft.com/office/powerpoint/2010/main" val="422683587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giao </a:t>
            </a:r>
            <a:r>
              <a:rPr lang="en-US" smtClean="0"/>
              <a:t>thức</a:t>
            </a:r>
            <a:endParaRPr lang="en-US" sz="2000" smtClean="0"/>
          </a:p>
          <a:p>
            <a:endParaRPr lang="en-US" sz="2400"/>
          </a:p>
          <a:p>
            <a:pPr lvl="2"/>
            <a:endParaRPr lang="en-US" sz="2600"/>
          </a:p>
        </p:txBody>
      </p:sp>
      <p:pic>
        <p:nvPicPr>
          <p:cNvPr id="6" name="Picture 5" descr="D:\Learn\NetworkManagement\BaiTap\Deny(HTTP..HTTPS)\Deny(HTTP..HTTPS)\6.PNG"/>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209800"/>
            <a:ext cx="5715000" cy="4267200"/>
          </a:xfrm>
          <a:prstGeom prst="rect">
            <a:avLst/>
          </a:prstGeom>
          <a:noFill/>
          <a:ln>
            <a:noFill/>
          </a:ln>
        </p:spPr>
      </p:pic>
    </p:spTree>
    <p:extLst>
      <p:ext uri="{BB962C8B-B14F-4D97-AF65-F5344CB8AC3E}">
        <p14:creationId xmlns:p14="http://schemas.microsoft.com/office/powerpoint/2010/main" val="88865595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giao </a:t>
            </a:r>
            <a:r>
              <a:rPr lang="en-US" smtClean="0"/>
              <a:t>thức</a:t>
            </a:r>
            <a:endParaRPr lang="en-US" sz="2000" smtClean="0"/>
          </a:p>
          <a:p>
            <a:endParaRPr lang="en-US" sz="2400"/>
          </a:p>
          <a:p>
            <a:pPr lvl="2"/>
            <a:endParaRPr lang="en-US" sz="2600"/>
          </a:p>
        </p:txBody>
      </p:sp>
      <p:pic>
        <p:nvPicPr>
          <p:cNvPr id="5" name="Picture 4" descr="D:\Learn\NetworkManagement\BaiTap\Deny(HTTP..HTTPS)\Deny(HTTP..HTTPS)\7.PNG"/>
          <p:cNvPicPr/>
          <p:nvPr/>
        </p:nvPicPr>
        <p:blipFill>
          <a:blip r:embed="rId2">
            <a:extLst>
              <a:ext uri="{28A0092B-C50C-407E-A947-70E740481C1C}">
                <a14:useLocalDpi xmlns:a14="http://schemas.microsoft.com/office/drawing/2010/main" val="0"/>
              </a:ext>
            </a:extLst>
          </a:blip>
          <a:srcRect/>
          <a:stretch>
            <a:fillRect/>
          </a:stretch>
        </p:blipFill>
        <p:spPr bwMode="auto">
          <a:xfrm>
            <a:off x="3691890" y="2057400"/>
            <a:ext cx="5452110" cy="4800600"/>
          </a:xfrm>
          <a:prstGeom prst="rect">
            <a:avLst/>
          </a:prstGeom>
          <a:noFill/>
          <a:ln>
            <a:noFill/>
          </a:ln>
        </p:spPr>
      </p:pic>
    </p:spTree>
    <p:extLst>
      <p:ext uri="{BB962C8B-B14F-4D97-AF65-F5344CB8AC3E}">
        <p14:creationId xmlns:p14="http://schemas.microsoft.com/office/powerpoint/2010/main" val="86677226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a:t>
            </a:r>
            <a:r>
              <a:rPr lang="en-US" smtClean="0"/>
              <a:t>website</a:t>
            </a:r>
            <a:endParaRPr lang="en-US" sz="2000" smtClean="0"/>
          </a:p>
          <a:p>
            <a:endParaRPr lang="en-US" sz="2400"/>
          </a:p>
          <a:p>
            <a:pPr lvl="2"/>
            <a:endParaRPr lang="en-US" sz="2600"/>
          </a:p>
        </p:txBody>
      </p:sp>
      <p:pic>
        <p:nvPicPr>
          <p:cNvPr id="6" name="Picture 5"/>
          <p:cNvPicPr/>
          <p:nvPr/>
        </p:nvPicPr>
        <p:blipFill>
          <a:blip r:embed="rId2"/>
          <a:stretch>
            <a:fillRect/>
          </a:stretch>
        </p:blipFill>
        <p:spPr>
          <a:xfrm>
            <a:off x="1600200" y="2133600"/>
            <a:ext cx="5943600" cy="4015740"/>
          </a:xfrm>
          <a:prstGeom prst="rect">
            <a:avLst/>
          </a:prstGeom>
        </p:spPr>
      </p:pic>
    </p:spTree>
    <p:extLst>
      <p:ext uri="{BB962C8B-B14F-4D97-AF65-F5344CB8AC3E}">
        <p14:creationId xmlns:p14="http://schemas.microsoft.com/office/powerpoint/2010/main" val="345787568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a:t>
            </a:r>
            <a:r>
              <a:rPr lang="en-US" smtClean="0"/>
              <a:t>website</a:t>
            </a:r>
            <a:endParaRPr lang="en-US" sz="2000" smtClean="0"/>
          </a:p>
          <a:p>
            <a:endParaRPr lang="en-US" sz="2400"/>
          </a:p>
          <a:p>
            <a:pPr lvl="2"/>
            <a:endParaRPr lang="en-US" sz="2600"/>
          </a:p>
        </p:txBody>
      </p:sp>
      <p:pic>
        <p:nvPicPr>
          <p:cNvPr id="5" name="Picture 4" descr="D:\Learn\NetworkManagement\BaiTap\DenyWebsites\DenyWebsites\2.PNG"/>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362200"/>
            <a:ext cx="6172200" cy="3962400"/>
          </a:xfrm>
          <a:prstGeom prst="rect">
            <a:avLst/>
          </a:prstGeom>
          <a:noFill/>
          <a:ln>
            <a:noFill/>
          </a:ln>
        </p:spPr>
      </p:pic>
    </p:spTree>
    <p:extLst>
      <p:ext uri="{BB962C8B-B14F-4D97-AF65-F5344CB8AC3E}">
        <p14:creationId xmlns:p14="http://schemas.microsoft.com/office/powerpoint/2010/main" val="231054569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a:t>
            </a:r>
            <a:r>
              <a:rPr lang="en-US" smtClean="0"/>
              <a:t>website</a:t>
            </a:r>
            <a:endParaRPr lang="en-US" sz="2000" smtClean="0"/>
          </a:p>
          <a:p>
            <a:endParaRPr lang="en-US" sz="2400"/>
          </a:p>
          <a:p>
            <a:pPr lvl="2"/>
            <a:endParaRPr lang="en-US" sz="2600"/>
          </a:p>
        </p:txBody>
      </p:sp>
      <p:pic>
        <p:nvPicPr>
          <p:cNvPr id="6" name="Picture 5" descr="D:\Learn\NetworkManagement\BaiTap\DenyWebsites\DenyWebsites\3.PNG"/>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213472"/>
            <a:ext cx="6019800" cy="3962400"/>
          </a:xfrm>
          <a:prstGeom prst="rect">
            <a:avLst/>
          </a:prstGeom>
          <a:noFill/>
          <a:ln>
            <a:noFill/>
          </a:ln>
        </p:spPr>
      </p:pic>
    </p:spTree>
    <p:extLst>
      <p:ext uri="{BB962C8B-B14F-4D97-AF65-F5344CB8AC3E}">
        <p14:creationId xmlns:p14="http://schemas.microsoft.com/office/powerpoint/2010/main" val="340630535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a:t>
            </a:r>
            <a:r>
              <a:rPr lang="en-US" smtClean="0"/>
              <a:t>website</a:t>
            </a:r>
            <a:endParaRPr lang="en-US" sz="2000" smtClean="0"/>
          </a:p>
          <a:p>
            <a:endParaRPr lang="en-US" sz="2400"/>
          </a:p>
          <a:p>
            <a:pPr lvl="2"/>
            <a:endParaRPr lang="en-US" sz="2600"/>
          </a:p>
        </p:txBody>
      </p:sp>
      <p:pic>
        <p:nvPicPr>
          <p:cNvPr id="5" name="Picture 4" descr="D:\Learn\NetworkManagement\BaiTap\DenyWebsites\DenyWebsites\4.PNG"/>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209800"/>
            <a:ext cx="5867400" cy="4503268"/>
          </a:xfrm>
          <a:prstGeom prst="rect">
            <a:avLst/>
          </a:prstGeom>
          <a:noFill/>
          <a:ln>
            <a:noFill/>
          </a:ln>
        </p:spPr>
      </p:pic>
    </p:spTree>
    <p:extLst>
      <p:ext uri="{BB962C8B-B14F-4D97-AF65-F5344CB8AC3E}">
        <p14:creationId xmlns:p14="http://schemas.microsoft.com/office/powerpoint/2010/main" val="113263546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a:t>
            </a:r>
            <a:r>
              <a:rPr lang="en-US" smtClean="0"/>
              <a:t>website</a:t>
            </a:r>
            <a:endParaRPr lang="en-US" sz="2000" smtClean="0"/>
          </a:p>
          <a:p>
            <a:endParaRPr lang="en-US" sz="2400"/>
          </a:p>
          <a:p>
            <a:pPr lvl="2"/>
            <a:endParaRPr lang="en-US" sz="2600"/>
          </a:p>
        </p:txBody>
      </p:sp>
      <p:pic>
        <p:nvPicPr>
          <p:cNvPr id="6" name="Picture 5" descr="D:\Learn\NetworkManagement\BaiTap\DenyWebsites\DenyWebsites\5.PNG"/>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286000"/>
            <a:ext cx="5715000" cy="4386300"/>
          </a:xfrm>
          <a:prstGeom prst="rect">
            <a:avLst/>
          </a:prstGeom>
          <a:noFill/>
          <a:ln>
            <a:noFill/>
          </a:ln>
        </p:spPr>
      </p:pic>
    </p:spTree>
    <p:extLst>
      <p:ext uri="{BB962C8B-B14F-4D97-AF65-F5344CB8AC3E}">
        <p14:creationId xmlns:p14="http://schemas.microsoft.com/office/powerpoint/2010/main" val="38559515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a:t>
            </a:r>
            <a:r>
              <a:rPr lang="en-US" smtClean="0"/>
              <a:t>website</a:t>
            </a:r>
            <a:endParaRPr lang="en-US" sz="2000" smtClean="0"/>
          </a:p>
          <a:p>
            <a:endParaRPr lang="en-US" sz="2400"/>
          </a:p>
          <a:p>
            <a:pPr lvl="2"/>
            <a:endParaRPr lang="en-US" sz="2600"/>
          </a:p>
        </p:txBody>
      </p:sp>
      <p:pic>
        <p:nvPicPr>
          <p:cNvPr id="5" name="Picture 4"/>
          <p:cNvPicPr/>
          <p:nvPr/>
        </p:nvPicPr>
        <p:blipFill>
          <a:blip r:embed="rId2"/>
          <a:stretch>
            <a:fillRect/>
          </a:stretch>
        </p:blipFill>
        <p:spPr>
          <a:xfrm>
            <a:off x="1066800" y="2209800"/>
            <a:ext cx="7239000" cy="4191000"/>
          </a:xfrm>
          <a:prstGeom prst="rect">
            <a:avLst/>
          </a:prstGeom>
        </p:spPr>
      </p:pic>
    </p:spTree>
    <p:extLst>
      <p:ext uri="{BB962C8B-B14F-4D97-AF65-F5344CB8AC3E}">
        <p14:creationId xmlns:p14="http://schemas.microsoft.com/office/powerpoint/2010/main" val="246700770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a:t>
            </a:r>
            <a:r>
              <a:rPr lang="en-US" smtClean="0"/>
              <a:t>website</a:t>
            </a:r>
            <a:endParaRPr lang="en-US" sz="2000" smtClean="0"/>
          </a:p>
          <a:p>
            <a:endParaRPr lang="en-US" sz="2400"/>
          </a:p>
          <a:p>
            <a:pPr lvl="2"/>
            <a:endParaRPr lang="en-US" sz="2600"/>
          </a:p>
        </p:txBody>
      </p:sp>
      <p:pic>
        <p:nvPicPr>
          <p:cNvPr id="5" name="Picture 4" descr="D:\Learn\NetworkManagement\BaiTap\DenyWebsites\DenyWebsites\7.PNG"/>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138190"/>
            <a:ext cx="4191000" cy="4507508"/>
          </a:xfrm>
          <a:prstGeom prst="rect">
            <a:avLst/>
          </a:prstGeom>
          <a:noFill/>
          <a:ln>
            <a:noFill/>
          </a:ln>
        </p:spPr>
      </p:pic>
    </p:spTree>
    <p:extLst>
      <p:ext uri="{BB962C8B-B14F-4D97-AF65-F5344CB8AC3E}">
        <p14:creationId xmlns:p14="http://schemas.microsoft.com/office/powerpoint/2010/main" val="276314515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a:t>
            </a:r>
            <a:r>
              <a:rPr lang="en-US" smtClean="0"/>
              <a:t>website</a:t>
            </a:r>
            <a:endParaRPr lang="en-US" sz="2000" smtClean="0"/>
          </a:p>
          <a:p>
            <a:endParaRPr lang="en-US" sz="2400"/>
          </a:p>
          <a:p>
            <a:pPr lvl="2"/>
            <a:endParaRPr lang="en-US" sz="2600"/>
          </a:p>
        </p:txBody>
      </p:sp>
      <p:pic>
        <p:nvPicPr>
          <p:cNvPr id="6" name="Picture 5" descr="D:\Learn\NetworkManagement\BaiTap\DenyWebsites\DenyWebsites\8.PNG"/>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229080"/>
            <a:ext cx="5715000" cy="4386300"/>
          </a:xfrm>
          <a:prstGeom prst="rect">
            <a:avLst/>
          </a:prstGeom>
          <a:noFill/>
          <a:ln>
            <a:noFill/>
          </a:ln>
        </p:spPr>
      </p:pic>
    </p:spTree>
    <p:extLst>
      <p:ext uri="{BB962C8B-B14F-4D97-AF65-F5344CB8AC3E}">
        <p14:creationId xmlns:p14="http://schemas.microsoft.com/office/powerpoint/2010/main" val="163145685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p:txBody>
          <a:bodyPr>
            <a:normAutofit/>
          </a:bodyPr>
          <a:lstStyle/>
          <a:p>
            <a:r>
              <a:rPr lang="en-US"/>
              <a:t> </a:t>
            </a:r>
            <a:r>
              <a:rPr lang="en-US" smtClean="0"/>
              <a:t>Chặn/cho phép các </a:t>
            </a:r>
            <a:r>
              <a:rPr lang="en-US" smtClean="0"/>
              <a:t>website</a:t>
            </a:r>
            <a:endParaRPr lang="en-US" sz="2000" smtClean="0"/>
          </a:p>
          <a:p>
            <a:endParaRPr lang="en-US" sz="2400"/>
          </a:p>
          <a:p>
            <a:pPr lvl="2"/>
            <a:endParaRPr lang="en-US" sz="2600"/>
          </a:p>
        </p:txBody>
      </p:sp>
      <p:pic>
        <p:nvPicPr>
          <p:cNvPr id="5" name="Picture 4" descr="D:\Learn\NetworkManagement\BaiTap\DenyWebsites\DenyWebsites\9.PNG"/>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362200"/>
            <a:ext cx="6179722" cy="3886200"/>
          </a:xfrm>
          <a:prstGeom prst="rect">
            <a:avLst/>
          </a:prstGeom>
          <a:noFill/>
          <a:ln>
            <a:noFill/>
          </a:ln>
        </p:spPr>
      </p:pic>
    </p:spTree>
    <p:extLst>
      <p:ext uri="{BB962C8B-B14F-4D97-AF65-F5344CB8AC3E}">
        <p14:creationId xmlns:p14="http://schemas.microsoft.com/office/powerpoint/2010/main" val="283102758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r>
              <a:rPr lang="en-US" smtClean="0"/>
              <a:t>Các tiện ích trên ISA</a:t>
            </a:r>
            <a:endParaRPr lang="en-US"/>
          </a:p>
        </p:txBody>
      </p:sp>
      <p:sp>
        <p:nvSpPr>
          <p:cNvPr id="3" name="Content Placeholder 2"/>
          <p:cNvSpPr>
            <a:spLocks noGrp="1"/>
          </p:cNvSpPr>
          <p:nvPr>
            <p:ph sz="quarter" idx="14"/>
          </p:nvPr>
        </p:nvSpPr>
        <p:spPr>
          <a:xfrm>
            <a:off x="304800" y="1524000"/>
            <a:ext cx="8610600" cy="4495800"/>
          </a:xfrm>
        </p:spPr>
        <p:txBody>
          <a:bodyPr>
            <a:normAutofit/>
          </a:bodyPr>
          <a:lstStyle/>
          <a:p>
            <a:r>
              <a:rPr lang="en-US"/>
              <a:t> </a:t>
            </a:r>
            <a:r>
              <a:rPr lang="en-US" smtClean="0"/>
              <a:t>Chặn/cho phép các </a:t>
            </a:r>
            <a:r>
              <a:rPr lang="en-US" smtClean="0"/>
              <a:t>website</a:t>
            </a:r>
            <a:endParaRPr lang="en-US" sz="2000" smtClean="0"/>
          </a:p>
          <a:p>
            <a:endParaRPr lang="en-US" sz="2400"/>
          </a:p>
          <a:p>
            <a:pPr lvl="2"/>
            <a:endParaRPr lang="en-US" sz="2600"/>
          </a:p>
        </p:txBody>
      </p:sp>
      <p:pic>
        <p:nvPicPr>
          <p:cNvPr id="6" name="Picture 5" descr="D:\Learn\NetworkManagement\BaiTap\DenyWebsites\DenyWebsites\10.PNG"/>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057400"/>
            <a:ext cx="5562600" cy="4800600"/>
          </a:xfrm>
          <a:prstGeom prst="rect">
            <a:avLst/>
          </a:prstGeom>
          <a:noFill/>
          <a:ln>
            <a:noFill/>
          </a:ln>
        </p:spPr>
      </p:pic>
    </p:spTree>
    <p:extLst>
      <p:ext uri="{BB962C8B-B14F-4D97-AF65-F5344CB8AC3E}">
        <p14:creationId xmlns:p14="http://schemas.microsoft.com/office/powerpoint/2010/main" val="146858434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normAutofit/>
          </a:bodyPr>
          <a:lstStyle/>
          <a:p>
            <a:endParaRPr lang="en-US"/>
          </a:p>
        </p:txBody>
      </p:sp>
      <p:sp>
        <p:nvSpPr>
          <p:cNvPr id="3" name="Content Placeholder 2"/>
          <p:cNvSpPr>
            <a:spLocks noGrp="1"/>
          </p:cNvSpPr>
          <p:nvPr>
            <p:ph sz="quarter" idx="14"/>
          </p:nvPr>
        </p:nvSpPr>
        <p:spPr/>
        <p:txBody>
          <a:bodyPr>
            <a:normAutofit/>
          </a:bodyPr>
          <a:lstStyle/>
          <a:p>
            <a:pPr marL="45720" indent="0" algn="ctr">
              <a:buNone/>
            </a:pPr>
            <a:r>
              <a:rPr lang="en-US" sz="4800" smtClean="0"/>
              <a:t>Hết</a:t>
            </a:r>
            <a:br>
              <a:rPr lang="en-US" sz="4800" smtClean="0"/>
            </a:br>
            <a:r>
              <a:rPr lang="en-US" sz="4800" smtClean="0"/>
              <a:t>Cám ơn thầy đã lắng nghe</a:t>
            </a:r>
          </a:p>
          <a:p>
            <a:endParaRPr lang="en-US" sz="2400"/>
          </a:p>
          <a:p>
            <a:pPr lvl="2"/>
            <a:endParaRPr lang="en-US" sz="2600"/>
          </a:p>
        </p:txBody>
      </p:sp>
    </p:spTree>
    <p:extLst>
      <p:ext uri="{BB962C8B-B14F-4D97-AF65-F5344CB8AC3E}">
        <p14:creationId xmlns:p14="http://schemas.microsoft.com/office/powerpoint/2010/main" val="2423829060"/>
      </p:ext>
    </p:extLst>
  </p:cSld>
  <p:clrMapOvr>
    <a:masterClrMapping/>
  </p:clrMapOvr>
  <p:timing>
    <p:tnLst>
      <p:par>
        <p:cTn id="1" dur="indefinite" restart="never" nodeType="tmRoot"/>
      </p:par>
    </p:tnLst>
  </p:timing>
</p:sld>
</file>

<file path=ppt/theme/theme1.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195</TotalTime>
  <Words>1778</Words>
  <Application>Microsoft Office PowerPoint</Application>
  <PresentationFormat>On-screen Show (4:3)</PresentationFormat>
  <Paragraphs>195</Paragraphs>
  <Slides>62</Slides>
  <Notes>0</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Slipstream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PHONGCOM</dc:creator>
  <cp:lastModifiedBy>Le Xuan Nguyen</cp:lastModifiedBy>
  <cp:revision>38</cp:revision>
  <dcterms:created xsi:type="dcterms:W3CDTF">2012-10-28T07:59:35Z</dcterms:created>
  <dcterms:modified xsi:type="dcterms:W3CDTF">2012-10-29T00:49:45Z</dcterms:modified>
</cp:coreProperties>
</file>